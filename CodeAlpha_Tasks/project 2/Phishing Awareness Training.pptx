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4cd4db9c851ee91f5f9866dcfa15505182e6e19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0000"/>
                </a:srgbClr>
              </a:gs>
              <a:gs pos="50000">
                <a:srgbClr val="1A1D24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077277"/>
            <a:ext cx="2045970" cy="388620"/>
          </a:xfrm>
          <a:custGeom>
            <a:avLst/>
            <a:gdLst/>
            <a:ahLst/>
            <a:cxnLst/>
            <a:rect l="l" t="t" r="r" b="b"/>
            <a:pathLst>
              <a:path w="2045970" h="388620">
                <a:moveTo>
                  <a:pt x="76201" y="0"/>
                </a:moveTo>
                <a:lnTo>
                  <a:pt x="1969769" y="0"/>
                </a:lnTo>
                <a:cubicBezTo>
                  <a:pt x="2011854" y="0"/>
                  <a:pt x="2045970" y="34116"/>
                  <a:pt x="2045970" y="76201"/>
                </a:cubicBezTo>
                <a:lnTo>
                  <a:pt x="2045970" y="312419"/>
                </a:lnTo>
                <a:cubicBezTo>
                  <a:pt x="2045970" y="354504"/>
                  <a:pt x="2011854" y="388620"/>
                  <a:pt x="19697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 w="10160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203008"/>
            <a:ext cx="1799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TRAINING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98308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Phishing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Awareness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DB6A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9865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Yourself and Your Organization from Cyber Threats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55559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5555932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Alert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63065" y="555593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2048828" y="5555932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Informed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66004" y="555593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3608904" y="5555932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Secure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17565" y="15049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1409700"/>
            <a:ext cx="475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Phishing Threats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752600"/>
            <a:ext cx="473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statistics, trends, and why phishing remains the #1 cyber threat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42829" y="15049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34200" y="1409700"/>
            <a:ext cx="441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Phishing Attacks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0" y="1752600"/>
            <a:ext cx="4391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Email, spear, whaling, smishing, vishing, quishing, and BEC attacks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733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729" y="28289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733675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Recognizing Phishing Emails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3076575"/>
            <a:ext cx="3295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critical red flags and warning signs to watch for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24600" y="2733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42948" y="282892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0" y="273367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Fake Websites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3076575"/>
            <a:ext cx="4029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spot spoofed domains and verify website legitimacy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057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6491" y="41529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405765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Engineering Tactics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400550"/>
            <a:ext cx="415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Pretexting, baiting, quid pro quo, and manipulation techniques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4600" y="4057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41529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4200" y="4057650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Case Studies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4400550"/>
            <a:ext cx="3848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Notable attacks and lessons learned from major breaches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38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4230" y="5476875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5381625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5724525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SLAM method, MFA, password managers, and protection strategies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4600" y="538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38186" y="54768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4200" y="5381625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Check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0" y="5724525"/>
            <a:ext cx="3200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quiz to test your phishing awareness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Phishing Threat Landscape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scale and sophistication of modern phishing attacks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00200"/>
            <a:ext cx="2724150" cy="2362200"/>
          </a:xfrm>
          <a:custGeom>
            <a:avLst/>
            <a:gdLst/>
            <a:ahLst/>
            <a:cxnLst/>
            <a:rect l="l" t="t" r="r" b="b"/>
            <a:pathLst>
              <a:path w="2724150" h="2362200">
                <a:moveTo>
                  <a:pt x="38100" y="0"/>
                </a:moveTo>
                <a:lnTo>
                  <a:pt x="2647945" y="0"/>
                </a:lnTo>
                <a:cubicBezTo>
                  <a:pt x="2690004" y="0"/>
                  <a:pt x="2724150" y="34146"/>
                  <a:pt x="2724150" y="76205"/>
                </a:cubicBezTo>
                <a:lnTo>
                  <a:pt x="2724150" y="2285995"/>
                </a:lnTo>
                <a:cubicBezTo>
                  <a:pt x="2724150" y="2328082"/>
                  <a:pt x="2690032" y="2362200"/>
                  <a:pt x="26479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1790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3.4B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2479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Emails Daily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46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 globally every single 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5650" y="1600200"/>
            <a:ext cx="2724150" cy="2362200"/>
          </a:xfrm>
          <a:custGeom>
            <a:avLst/>
            <a:gdLst/>
            <a:ahLst/>
            <a:cxnLst/>
            <a:rect l="l" t="t" r="r" b="b"/>
            <a:pathLst>
              <a:path w="2724150" h="2362200">
                <a:moveTo>
                  <a:pt x="38100" y="0"/>
                </a:moveTo>
                <a:lnTo>
                  <a:pt x="2647945" y="0"/>
                </a:lnTo>
                <a:cubicBezTo>
                  <a:pt x="2690004" y="0"/>
                  <a:pt x="2724150" y="34146"/>
                  <a:pt x="2724150" y="76205"/>
                </a:cubicBezTo>
                <a:lnTo>
                  <a:pt x="2724150" y="2285995"/>
                </a:lnTo>
                <a:cubicBezTo>
                  <a:pt x="2724150" y="2328082"/>
                  <a:pt x="2690032" y="2362200"/>
                  <a:pt x="26479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1" name="Shape 9"/>
          <p:cNvSpPr/>
          <p:nvPr/>
        </p:nvSpPr>
        <p:spPr>
          <a:xfrm>
            <a:off x="3295650" y="16002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200" y="1790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5200" y="22479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Targeted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5200" y="25146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Experienced phishing attacks in 2024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0" y="1600200"/>
            <a:ext cx="2724150" cy="2362200"/>
          </a:xfrm>
          <a:custGeom>
            <a:avLst/>
            <a:gdLst/>
            <a:ahLst/>
            <a:cxnLst/>
            <a:rect l="l" t="t" r="r" b="b"/>
            <a:pathLst>
              <a:path w="2724150" h="2362200">
                <a:moveTo>
                  <a:pt x="38100" y="0"/>
                </a:moveTo>
                <a:lnTo>
                  <a:pt x="2647945" y="0"/>
                </a:lnTo>
                <a:cubicBezTo>
                  <a:pt x="2690004" y="0"/>
                  <a:pt x="2724150" y="34146"/>
                  <a:pt x="2724150" y="76205"/>
                </a:cubicBezTo>
                <a:lnTo>
                  <a:pt x="2724150" y="2285995"/>
                </a:lnTo>
                <a:cubicBezTo>
                  <a:pt x="2724150" y="2328082"/>
                  <a:pt x="2690032" y="2362200"/>
                  <a:pt x="26479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1250" y="16002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90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2479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Time to Click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click phishing links rapidly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86850" y="1600200"/>
            <a:ext cx="2724150" cy="2362200"/>
          </a:xfrm>
          <a:custGeom>
            <a:avLst/>
            <a:gdLst/>
            <a:ahLst/>
            <a:cxnLst/>
            <a:rect l="l" t="t" r="r" b="b"/>
            <a:pathLst>
              <a:path w="2724150" h="2362200">
                <a:moveTo>
                  <a:pt x="38100" y="0"/>
                </a:moveTo>
                <a:lnTo>
                  <a:pt x="2647945" y="0"/>
                </a:lnTo>
                <a:cubicBezTo>
                  <a:pt x="2690004" y="0"/>
                  <a:pt x="2724150" y="34146"/>
                  <a:pt x="2724150" y="76205"/>
                </a:cubicBezTo>
                <a:lnTo>
                  <a:pt x="2724150" y="2285995"/>
                </a:lnTo>
                <a:cubicBezTo>
                  <a:pt x="2724150" y="2328082"/>
                  <a:pt x="2690032" y="2362200"/>
                  <a:pt x="26479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86850" y="16002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400" y="1790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96400" y="22479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Cyber Attacks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6400" y="25146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Involve phishing as entry point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4191000"/>
            <a:ext cx="5600700" cy="2286000"/>
          </a:xfrm>
          <a:custGeom>
            <a:avLst/>
            <a:gdLst/>
            <a:ahLst/>
            <a:cxnLst/>
            <a:rect l="l" t="t" r="r" b="b"/>
            <a:pathLst>
              <a:path w="5600700" h="22860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209808"/>
                </a:lnTo>
                <a:cubicBezTo>
                  <a:pt x="5600700" y="2251888"/>
                  <a:pt x="5566588" y="2286000"/>
                  <a:pt x="55245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5313" y="441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625" y="43815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2024-2025 Trends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4838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" y="480060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Phishing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6300" y="502920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YoY increase in AI-powered attacks with personalized content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9600" y="5372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2" name="Text 30"/>
          <p:cNvSpPr/>
          <p:nvPr/>
        </p:nvSpPr>
        <p:spPr>
          <a:xfrm>
            <a:off x="876300" y="533400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Phishing (Vishing)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6300" y="556260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442% increase in vishing attacks, peak in December 2024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0075" y="5905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47625"/>
                </a:moveTo>
                <a:lnTo>
                  <a:pt x="38100" y="47625"/>
                </a:lnTo>
                <a:lnTo>
                  <a:pt x="38100" y="28575"/>
                </a:lnTo>
                <a:lnTo>
                  <a:pt x="19050" y="28575"/>
                </a:lnTo>
                <a:lnTo>
                  <a:pt x="19050" y="47625"/>
                </a:lnTo>
                <a:close/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52388"/>
                </a:lnTo>
                <a:cubicBezTo>
                  <a:pt x="57150" y="60275"/>
                  <a:pt x="50750" y="66675"/>
                  <a:pt x="42863" y="66675"/>
                </a:cubicBez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  <a:moveTo>
                  <a:pt x="19050" y="123825"/>
                </a:moveTo>
                <a:lnTo>
                  <a:pt x="38100" y="123825"/>
                </a:lnTo>
                <a:lnTo>
                  <a:pt x="38100" y="104775"/>
                </a:lnTo>
                <a:lnTo>
                  <a:pt x="19050" y="104775"/>
                </a:lnTo>
                <a:lnTo>
                  <a:pt x="19050" y="123825"/>
                </a:lnTo>
                <a:close/>
                <a:moveTo>
                  <a:pt x="0" y="100013"/>
                </a:moveTo>
                <a:cubicBezTo>
                  <a:pt x="0" y="92125"/>
                  <a:pt x="6400" y="85725"/>
                  <a:pt x="14288" y="85725"/>
                </a:cubicBezTo>
                <a:lnTo>
                  <a:pt x="42863" y="85725"/>
                </a:lnTo>
                <a:cubicBezTo>
                  <a:pt x="50750" y="85725"/>
                  <a:pt x="57150" y="92125"/>
                  <a:pt x="57150" y="100013"/>
                </a:cubicBezTo>
                <a:lnTo>
                  <a:pt x="57150" y="128588"/>
                </a:lnTo>
                <a:cubicBezTo>
                  <a:pt x="57150" y="136475"/>
                  <a:pt x="50750" y="142875"/>
                  <a:pt x="42863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100013"/>
                </a:lnTo>
                <a:close/>
                <a:moveTo>
                  <a:pt x="95250" y="28575"/>
                </a:moveTo>
                <a:lnTo>
                  <a:pt x="95250" y="47625"/>
                </a:lnTo>
                <a:lnTo>
                  <a:pt x="114300" y="47625"/>
                </a:lnTo>
                <a:lnTo>
                  <a:pt x="114300" y="28575"/>
                </a:lnTo>
                <a:lnTo>
                  <a:pt x="95250" y="28575"/>
                </a:lnTo>
                <a:close/>
                <a:moveTo>
                  <a:pt x="90488" y="9525"/>
                </a:moveTo>
                <a:lnTo>
                  <a:pt x="119062" y="9525"/>
                </a:lnTo>
                <a:cubicBezTo>
                  <a:pt x="126950" y="9525"/>
                  <a:pt x="133350" y="15925"/>
                  <a:pt x="133350" y="23813"/>
                </a:cubicBezTo>
                <a:lnTo>
                  <a:pt x="133350" y="52388"/>
                </a:lnTo>
                <a:cubicBezTo>
                  <a:pt x="133350" y="60275"/>
                  <a:pt x="126950" y="66675"/>
                  <a:pt x="119062" y="66675"/>
                </a:cubicBezTo>
                <a:lnTo>
                  <a:pt x="90488" y="66675"/>
                </a:lnTo>
                <a:cubicBezTo>
                  <a:pt x="82600" y="66675"/>
                  <a:pt x="76200" y="60275"/>
                  <a:pt x="76200" y="52388"/>
                </a:cubicBezTo>
                <a:lnTo>
                  <a:pt x="76200" y="23813"/>
                </a:lnTo>
                <a:cubicBezTo>
                  <a:pt x="76200" y="15925"/>
                  <a:pt x="82600" y="9525"/>
                  <a:pt x="90488" y="9525"/>
                </a:cubicBezTo>
                <a:close/>
                <a:moveTo>
                  <a:pt x="85725" y="104775"/>
                </a:moveTo>
                <a:cubicBezTo>
                  <a:pt x="80468" y="104775"/>
                  <a:pt x="76200" y="100507"/>
                  <a:pt x="76200" y="95250"/>
                </a:cubicBezTo>
                <a:cubicBezTo>
                  <a:pt x="76200" y="89993"/>
                  <a:pt x="80468" y="85725"/>
                  <a:pt x="85725" y="85725"/>
                </a:cubicBezTo>
                <a:cubicBezTo>
                  <a:pt x="90982" y="85725"/>
                  <a:pt x="95250" y="89993"/>
                  <a:pt x="95250" y="95250"/>
                </a:cubicBezTo>
                <a:cubicBezTo>
                  <a:pt x="95250" y="100507"/>
                  <a:pt x="90982" y="104775"/>
                  <a:pt x="85725" y="104775"/>
                </a:cubicBezTo>
                <a:close/>
                <a:moveTo>
                  <a:pt x="85725" y="123825"/>
                </a:moveTo>
                <a:cubicBezTo>
                  <a:pt x="90994" y="123825"/>
                  <a:pt x="95250" y="128081"/>
                  <a:pt x="95250" y="133350"/>
                </a:cubicBezTo>
                <a:cubicBezTo>
                  <a:pt x="95250" y="138619"/>
                  <a:pt x="90994" y="142875"/>
                  <a:pt x="85725" y="142875"/>
                </a:cubicBezTo>
                <a:cubicBezTo>
                  <a:pt x="80456" y="142875"/>
                  <a:pt x="76200" y="138619"/>
                  <a:pt x="76200" y="133350"/>
                </a:cubicBezTo>
                <a:cubicBezTo>
                  <a:pt x="76200" y="128081"/>
                  <a:pt x="80456" y="123825"/>
                  <a:pt x="85725" y="123825"/>
                </a:cubicBezTo>
                <a:close/>
                <a:moveTo>
                  <a:pt x="114300" y="133350"/>
                </a:moveTo>
                <a:cubicBezTo>
                  <a:pt x="114300" y="128081"/>
                  <a:pt x="118556" y="123825"/>
                  <a:pt x="123825" y="123825"/>
                </a:cubicBez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cubicBezTo>
                  <a:pt x="118556" y="142875"/>
                  <a:pt x="114300" y="138619"/>
                  <a:pt x="114300" y="133350"/>
                </a:cubicBezTo>
                <a:close/>
                <a:moveTo>
                  <a:pt x="123825" y="104775"/>
                </a:moveTo>
                <a:cubicBezTo>
                  <a:pt x="118568" y="104775"/>
                  <a:pt x="114300" y="100507"/>
                  <a:pt x="114300" y="95250"/>
                </a:cubicBezTo>
                <a:cubicBezTo>
                  <a:pt x="114300" y="89993"/>
                  <a:pt x="118568" y="85725"/>
                  <a:pt x="123825" y="85725"/>
                </a:cubicBezTo>
                <a:cubicBezTo>
                  <a:pt x="129082" y="85725"/>
                  <a:pt x="133350" y="89993"/>
                  <a:pt x="133350" y="95250"/>
                </a:cubicBezTo>
                <a:cubicBezTo>
                  <a:pt x="133350" y="100507"/>
                  <a:pt x="129082" y="104775"/>
                  <a:pt x="123825" y="104775"/>
                </a:cubicBezTo>
                <a:close/>
                <a:moveTo>
                  <a:pt x="114300" y="114300"/>
                </a:moveTo>
                <a:cubicBezTo>
                  <a:pt x="114300" y="119557"/>
                  <a:pt x="110032" y="123825"/>
                  <a:pt x="104775" y="123825"/>
                </a:cubicBezTo>
                <a:cubicBezTo>
                  <a:pt x="99518" y="123825"/>
                  <a:pt x="95250" y="119557"/>
                  <a:pt x="95250" y="114300"/>
                </a:cubicBezTo>
                <a:cubicBezTo>
                  <a:pt x="95250" y="109043"/>
                  <a:pt x="99518" y="104775"/>
                  <a:pt x="104775" y="104775"/>
                </a:cubicBezTo>
                <a:cubicBezTo>
                  <a:pt x="110032" y="104775"/>
                  <a:pt x="114300" y="109043"/>
                  <a:pt x="114300" y="11430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5" name="Text 33"/>
          <p:cNvSpPr/>
          <p:nvPr/>
        </p:nvSpPr>
        <p:spPr>
          <a:xfrm>
            <a:off x="876300" y="5867400"/>
            <a:ext cx="319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Code Phishing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6300" y="6096000"/>
            <a:ext cx="318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42x more attacks on C-suite executives using quishing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300" y="4191000"/>
            <a:ext cx="5600700" cy="2286000"/>
          </a:xfrm>
          <a:custGeom>
            <a:avLst/>
            <a:gdLst/>
            <a:ahLst/>
            <a:cxnLst/>
            <a:rect l="l" t="t" r="r" b="b"/>
            <a:pathLst>
              <a:path w="5600700" h="22860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209808"/>
                </a:lnTo>
                <a:cubicBezTo>
                  <a:pt x="5600700" y="2251888"/>
                  <a:pt x="5566588" y="2286000"/>
                  <a:pt x="55245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4613" y="441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9" name="Text 37"/>
          <p:cNvSpPr/>
          <p:nvPr/>
        </p:nvSpPr>
        <p:spPr>
          <a:xfrm>
            <a:off x="6638925" y="43815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Phishing Works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67463" y="48006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43700" y="4800600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Exploits Human Psychology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43700" y="5029200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urgency, fear, curiosity, and trust to bypass critical thinking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533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67463" y="5334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43700" y="533400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Cost, High Reward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3700" y="5562600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can send millions of emails with minimal investment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0" y="586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67463" y="58674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43700" y="58674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Increasingly Sophisticated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43700" y="6096000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makes emails nearly indistinguishable from legitimate 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Types of Phishing Attacks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various methods attackers use to deceive victims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81150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581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857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8097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2479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 emails sent to thousands of recipients using generic templates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7432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2857500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3047881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population, broad net approach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1721" y="1581150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41721" y="1581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94121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90561" y="18573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8" name="Text 16"/>
          <p:cNvSpPr/>
          <p:nvPr/>
        </p:nvSpPr>
        <p:spPr>
          <a:xfrm>
            <a:off x="4889421" y="18097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94121" y="22479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targeted attacks using personal information about the victim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94121" y="27432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1" name="Text 19"/>
          <p:cNvSpPr/>
          <p:nvPr/>
        </p:nvSpPr>
        <p:spPr>
          <a:xfrm>
            <a:off x="4508421" y="2857500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08421" y="3047881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individuals with personalized content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2561" y="1581150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4" name="Shape 22"/>
          <p:cNvSpPr/>
          <p:nvPr/>
        </p:nvSpPr>
        <p:spPr>
          <a:xfrm>
            <a:off x="8102561" y="1581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54961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72833" y="18573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8750261" y="1809750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Whaling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54961" y="22479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Targeting C-suite executives and senior leadership with sophisticated lures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4961" y="27432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0" name="Text 28"/>
          <p:cNvSpPr/>
          <p:nvPr/>
        </p:nvSpPr>
        <p:spPr>
          <a:xfrm>
            <a:off x="8369261" y="2857500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9261" y="3047881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CEOs, CFOs, VPs with access to sensitive data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3676531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" y="3676531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400" y="3847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0556" y="39527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60734"/>
                </a:moveTo>
                <a:cubicBezTo>
                  <a:pt x="133075" y="160734"/>
                  <a:pt x="171450" y="124737"/>
                  <a:pt x="171450" y="80367"/>
                </a:cubicBezTo>
                <a:cubicBezTo>
                  <a:pt x="171450" y="35998"/>
                  <a:pt x="133075" y="0"/>
                  <a:pt x="85725" y="0"/>
                </a:cubicBezTo>
                <a:cubicBezTo>
                  <a:pt x="38375" y="0"/>
                  <a:pt x="0" y="35998"/>
                  <a:pt x="0" y="80367"/>
                </a:cubicBezTo>
                <a:cubicBezTo>
                  <a:pt x="0" y="98550"/>
                  <a:pt x="6429" y="115293"/>
                  <a:pt x="17279" y="128755"/>
                </a:cubicBezTo>
                <a:lnTo>
                  <a:pt x="938" y="159663"/>
                </a:lnTo>
                <a:cubicBezTo>
                  <a:pt x="-670" y="162677"/>
                  <a:pt x="-167" y="166360"/>
                  <a:pt x="2143" y="168872"/>
                </a:cubicBezTo>
                <a:cubicBezTo>
                  <a:pt x="4454" y="171383"/>
                  <a:pt x="8104" y="172153"/>
                  <a:pt x="11218" y="170814"/>
                </a:cubicBezTo>
                <a:lnTo>
                  <a:pt x="50866" y="153836"/>
                </a:lnTo>
                <a:cubicBezTo>
                  <a:pt x="61514" y="158256"/>
                  <a:pt x="73302" y="160734"/>
                  <a:pt x="85725" y="160734"/>
                </a:cubicBezTo>
                <a:close/>
                <a:moveTo>
                  <a:pt x="42863" y="69652"/>
                </a:moveTo>
                <a:cubicBezTo>
                  <a:pt x="48777" y="69652"/>
                  <a:pt x="53578" y="74453"/>
                  <a:pt x="53578" y="80367"/>
                </a:cubicBezTo>
                <a:cubicBezTo>
                  <a:pt x="53578" y="86281"/>
                  <a:pt x="48777" y="91083"/>
                  <a:pt x="42863" y="91083"/>
                </a:cubicBezTo>
                <a:cubicBezTo>
                  <a:pt x="36948" y="91083"/>
                  <a:pt x="32147" y="86281"/>
                  <a:pt x="32147" y="80367"/>
                </a:cubicBezTo>
                <a:cubicBezTo>
                  <a:pt x="32147" y="74453"/>
                  <a:pt x="36948" y="69652"/>
                  <a:pt x="42863" y="69652"/>
                </a:cubicBezTo>
                <a:close/>
                <a:moveTo>
                  <a:pt x="85725" y="69652"/>
                </a:moveTo>
                <a:cubicBezTo>
                  <a:pt x="91639" y="69652"/>
                  <a:pt x="96441" y="74453"/>
                  <a:pt x="96441" y="80367"/>
                </a:cubicBezTo>
                <a:cubicBezTo>
                  <a:pt x="96441" y="86281"/>
                  <a:pt x="91639" y="91083"/>
                  <a:pt x="85725" y="91083"/>
                </a:cubicBezTo>
                <a:cubicBezTo>
                  <a:pt x="79811" y="91083"/>
                  <a:pt x="75009" y="86281"/>
                  <a:pt x="75009" y="80367"/>
                </a:cubicBezTo>
                <a:cubicBezTo>
                  <a:pt x="75009" y="74453"/>
                  <a:pt x="79811" y="69652"/>
                  <a:pt x="85725" y="69652"/>
                </a:cubicBezTo>
                <a:close/>
                <a:moveTo>
                  <a:pt x="117872" y="80367"/>
                </a:moveTo>
                <a:cubicBezTo>
                  <a:pt x="117872" y="74453"/>
                  <a:pt x="122673" y="69652"/>
                  <a:pt x="128588" y="69652"/>
                </a:cubicBezTo>
                <a:cubicBezTo>
                  <a:pt x="134502" y="69652"/>
                  <a:pt x="139303" y="74453"/>
                  <a:pt x="139303" y="80367"/>
                </a:cubicBezTo>
                <a:cubicBezTo>
                  <a:pt x="139303" y="86281"/>
                  <a:pt x="134502" y="91083"/>
                  <a:pt x="128588" y="91083"/>
                </a:cubicBezTo>
                <a:cubicBezTo>
                  <a:pt x="122673" y="91083"/>
                  <a:pt x="117872" y="86281"/>
                  <a:pt x="117872" y="80367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700" y="3905131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Smishing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3400" y="4343281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SMS/text message phishing with malicious links or requests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3400" y="4838581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9" name="Text 37"/>
          <p:cNvSpPr/>
          <p:nvPr/>
        </p:nvSpPr>
        <p:spPr>
          <a:xfrm>
            <a:off x="647700" y="4952881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" y="5143263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users via text messages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1721" y="3676531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2" name="Shape 40"/>
          <p:cNvSpPr/>
          <p:nvPr/>
        </p:nvSpPr>
        <p:spPr>
          <a:xfrm>
            <a:off x="4241721" y="3676531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Shape 41"/>
          <p:cNvSpPr/>
          <p:nvPr/>
        </p:nvSpPr>
        <p:spPr>
          <a:xfrm>
            <a:off x="4394121" y="3847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501277" y="39527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05" y="8372"/>
                </a:moveTo>
                <a:cubicBezTo>
                  <a:pt x="120417" y="2076"/>
                  <a:pt x="127315" y="-1306"/>
                  <a:pt x="133912" y="502"/>
                </a:cubicBezTo>
                <a:lnTo>
                  <a:pt x="135754" y="1005"/>
                </a:lnTo>
                <a:cubicBezTo>
                  <a:pt x="157386" y="6898"/>
                  <a:pt x="175870" y="27861"/>
                  <a:pt x="170479" y="53377"/>
                </a:cubicBezTo>
                <a:cubicBezTo>
                  <a:pt x="158055" y="111978"/>
                  <a:pt x="111945" y="158089"/>
                  <a:pt x="53344" y="170512"/>
                </a:cubicBezTo>
                <a:cubicBezTo>
                  <a:pt x="27794" y="175937"/>
                  <a:pt x="6865" y="157419"/>
                  <a:pt x="971" y="135787"/>
                </a:cubicBezTo>
                <a:lnTo>
                  <a:pt x="469" y="133945"/>
                </a:lnTo>
                <a:cubicBezTo>
                  <a:pt x="-1339" y="127349"/>
                  <a:pt x="2043" y="120450"/>
                  <a:pt x="8338" y="117838"/>
                </a:cubicBezTo>
                <a:lnTo>
                  <a:pt x="40920" y="104276"/>
                </a:lnTo>
                <a:cubicBezTo>
                  <a:pt x="46446" y="101966"/>
                  <a:pt x="52841" y="103573"/>
                  <a:pt x="56659" y="108228"/>
                </a:cubicBezTo>
                <a:lnTo>
                  <a:pt x="69585" y="124033"/>
                </a:lnTo>
                <a:cubicBezTo>
                  <a:pt x="93125" y="112347"/>
                  <a:pt x="112045" y="92791"/>
                  <a:pt x="122928" y="68814"/>
                </a:cubicBezTo>
                <a:lnTo>
                  <a:pt x="108161" y="56726"/>
                </a:lnTo>
                <a:cubicBezTo>
                  <a:pt x="103506" y="52942"/>
                  <a:pt x="101932" y="46546"/>
                  <a:pt x="104209" y="40987"/>
                </a:cubicBezTo>
                <a:lnTo>
                  <a:pt x="117805" y="837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4889421" y="3905131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Vishing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94121" y="4343281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phishing via phone calls with social engineering tactics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94121" y="4838581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8" name="Text 46"/>
          <p:cNvSpPr/>
          <p:nvPr/>
        </p:nvSpPr>
        <p:spPr>
          <a:xfrm>
            <a:off x="4508421" y="4952881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8421" y="5143263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Anyone reachable by phone, 442% increase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2561" y="3676531"/>
            <a:ext cx="3705225" cy="1924050"/>
          </a:xfrm>
          <a:custGeom>
            <a:avLst/>
            <a:gdLst/>
            <a:ahLst/>
            <a:cxnLst/>
            <a:rect l="l" t="t" r="r" b="b"/>
            <a:pathLst>
              <a:path w="3705225" h="1924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847858"/>
                </a:lnTo>
                <a:cubicBezTo>
                  <a:pt x="3705225" y="1889938"/>
                  <a:pt x="3671113" y="1924050"/>
                  <a:pt x="3629033" y="1924050"/>
                </a:cubicBezTo>
                <a:lnTo>
                  <a:pt x="76192" y="1924050"/>
                </a:lnTo>
                <a:cubicBezTo>
                  <a:pt x="34112" y="1924050"/>
                  <a:pt x="0" y="1889938"/>
                  <a:pt x="0" y="18478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51" name="Shape 49"/>
          <p:cNvSpPr/>
          <p:nvPr/>
        </p:nvSpPr>
        <p:spPr>
          <a:xfrm>
            <a:off x="8102561" y="3676531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2" name="Shape 50"/>
          <p:cNvSpPr/>
          <p:nvPr/>
        </p:nvSpPr>
        <p:spPr>
          <a:xfrm>
            <a:off x="8254961" y="3847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72833" y="39527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53578"/>
                </a:moveTo>
                <a:lnTo>
                  <a:pt x="42863" y="53578"/>
                </a:lnTo>
                <a:lnTo>
                  <a:pt x="42863" y="32147"/>
                </a:lnTo>
                <a:lnTo>
                  <a:pt x="21431" y="32147"/>
                </a:lnTo>
                <a:lnTo>
                  <a:pt x="21431" y="53578"/>
                </a:lnTo>
                <a:close/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58936"/>
                </a:lnTo>
                <a:cubicBezTo>
                  <a:pt x="64294" y="67810"/>
                  <a:pt x="57094" y="75009"/>
                  <a:pt x="48220" y="75009"/>
                </a:cubicBez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  <a:moveTo>
                  <a:pt x="21431" y="139303"/>
                </a:moveTo>
                <a:lnTo>
                  <a:pt x="42863" y="139303"/>
                </a:lnTo>
                <a:lnTo>
                  <a:pt x="42863" y="117872"/>
                </a:lnTo>
                <a:lnTo>
                  <a:pt x="21431" y="117872"/>
                </a:lnTo>
                <a:lnTo>
                  <a:pt x="21431" y="139303"/>
                </a:lnTo>
                <a:close/>
                <a:moveTo>
                  <a:pt x="0" y="112514"/>
                </a:moveTo>
                <a:cubicBezTo>
                  <a:pt x="0" y="103640"/>
                  <a:pt x="7200" y="96441"/>
                  <a:pt x="16073" y="96441"/>
                </a:cubicBezTo>
                <a:lnTo>
                  <a:pt x="48220" y="96441"/>
                </a:lnTo>
                <a:cubicBezTo>
                  <a:pt x="57094" y="96441"/>
                  <a:pt x="64294" y="103640"/>
                  <a:pt x="64294" y="112514"/>
                </a:cubicBezTo>
                <a:lnTo>
                  <a:pt x="64294" y="144661"/>
                </a:lnTo>
                <a:cubicBezTo>
                  <a:pt x="64294" y="153535"/>
                  <a:pt x="57094" y="160734"/>
                  <a:pt x="48220" y="160734"/>
                </a:cubicBezTo>
                <a:lnTo>
                  <a:pt x="16073" y="160734"/>
                </a:lnTo>
                <a:cubicBezTo>
                  <a:pt x="7200" y="160734"/>
                  <a:pt x="0" y="153535"/>
                  <a:pt x="0" y="144661"/>
                </a:cubicBezTo>
                <a:lnTo>
                  <a:pt x="0" y="112514"/>
                </a:lnTo>
                <a:close/>
                <a:moveTo>
                  <a:pt x="107156" y="32147"/>
                </a:moveTo>
                <a:lnTo>
                  <a:pt x="107156" y="53578"/>
                </a:lnTo>
                <a:lnTo>
                  <a:pt x="128588" y="53578"/>
                </a:lnTo>
                <a:lnTo>
                  <a:pt x="128588" y="32147"/>
                </a:lnTo>
                <a:lnTo>
                  <a:pt x="107156" y="32147"/>
                </a:lnTo>
                <a:close/>
                <a:moveTo>
                  <a:pt x="101798" y="10716"/>
                </a:moveTo>
                <a:lnTo>
                  <a:pt x="133945" y="10716"/>
                </a:lnTo>
                <a:cubicBezTo>
                  <a:pt x="142819" y="10716"/>
                  <a:pt x="150019" y="17915"/>
                  <a:pt x="150019" y="26789"/>
                </a:cubicBezTo>
                <a:lnTo>
                  <a:pt x="150019" y="58936"/>
                </a:lnTo>
                <a:cubicBezTo>
                  <a:pt x="150019" y="67810"/>
                  <a:pt x="142819" y="75009"/>
                  <a:pt x="133945" y="75009"/>
                </a:cubicBezTo>
                <a:lnTo>
                  <a:pt x="101798" y="75009"/>
                </a:lnTo>
                <a:cubicBezTo>
                  <a:pt x="92925" y="75009"/>
                  <a:pt x="85725" y="67810"/>
                  <a:pt x="85725" y="58936"/>
                </a:cubicBezTo>
                <a:lnTo>
                  <a:pt x="85725" y="26789"/>
                </a:lnTo>
                <a:cubicBezTo>
                  <a:pt x="85725" y="17915"/>
                  <a:pt x="92925" y="10716"/>
                  <a:pt x="101798" y="10716"/>
                </a:cubicBezTo>
                <a:close/>
                <a:moveTo>
                  <a:pt x="96441" y="117872"/>
                </a:moveTo>
                <a:cubicBezTo>
                  <a:pt x="90527" y="117872"/>
                  <a:pt x="85725" y="113070"/>
                  <a:pt x="85725" y="107156"/>
                </a:cubicBezTo>
                <a:cubicBezTo>
                  <a:pt x="85725" y="101242"/>
                  <a:pt x="90527" y="96441"/>
                  <a:pt x="96441" y="96441"/>
                </a:cubicBezTo>
                <a:cubicBezTo>
                  <a:pt x="102355" y="96441"/>
                  <a:pt x="107156" y="101242"/>
                  <a:pt x="107156" y="107156"/>
                </a:cubicBezTo>
                <a:cubicBezTo>
                  <a:pt x="107156" y="113070"/>
                  <a:pt x="102355" y="117872"/>
                  <a:pt x="96441" y="117872"/>
                </a:cubicBezTo>
                <a:close/>
                <a:moveTo>
                  <a:pt x="96441" y="139303"/>
                </a:moveTo>
                <a:cubicBezTo>
                  <a:pt x="102368" y="139303"/>
                  <a:pt x="107156" y="144092"/>
                  <a:pt x="107156" y="150019"/>
                </a:cubicBezTo>
                <a:cubicBezTo>
                  <a:pt x="107156" y="155946"/>
                  <a:pt x="102368" y="160734"/>
                  <a:pt x="96441" y="160734"/>
                </a:cubicBezTo>
                <a:cubicBezTo>
                  <a:pt x="90514" y="160734"/>
                  <a:pt x="85725" y="155946"/>
                  <a:pt x="85725" y="150019"/>
                </a:cubicBezTo>
                <a:cubicBezTo>
                  <a:pt x="85725" y="144092"/>
                  <a:pt x="90514" y="139303"/>
                  <a:pt x="96441" y="139303"/>
                </a:cubicBezTo>
                <a:close/>
                <a:moveTo>
                  <a:pt x="128588" y="150019"/>
                </a:moveTo>
                <a:cubicBezTo>
                  <a:pt x="128588" y="144092"/>
                  <a:pt x="133376" y="139303"/>
                  <a:pt x="139303" y="139303"/>
                </a:cubicBezTo>
                <a:cubicBezTo>
                  <a:pt x="145230" y="139303"/>
                  <a:pt x="150019" y="144092"/>
                  <a:pt x="150019" y="150019"/>
                </a:cubicBezTo>
                <a:cubicBezTo>
                  <a:pt x="150019" y="155946"/>
                  <a:pt x="145230" y="160734"/>
                  <a:pt x="139303" y="160734"/>
                </a:cubicBezTo>
                <a:cubicBezTo>
                  <a:pt x="133376" y="160734"/>
                  <a:pt x="128588" y="155946"/>
                  <a:pt x="128588" y="150019"/>
                </a:cubicBezTo>
                <a:close/>
                <a:moveTo>
                  <a:pt x="139303" y="117872"/>
                </a:moveTo>
                <a:cubicBezTo>
                  <a:pt x="133389" y="117872"/>
                  <a:pt x="128588" y="113070"/>
                  <a:pt x="128588" y="107156"/>
                </a:cubicBezTo>
                <a:cubicBezTo>
                  <a:pt x="128588" y="101242"/>
                  <a:pt x="133389" y="96441"/>
                  <a:pt x="139303" y="96441"/>
                </a:cubicBezTo>
                <a:cubicBezTo>
                  <a:pt x="145217" y="96441"/>
                  <a:pt x="150019" y="101242"/>
                  <a:pt x="150019" y="107156"/>
                </a:cubicBezTo>
                <a:cubicBezTo>
                  <a:pt x="150019" y="113070"/>
                  <a:pt x="145217" y="117872"/>
                  <a:pt x="139303" y="117872"/>
                </a:cubicBezTo>
                <a:close/>
                <a:moveTo>
                  <a:pt x="128588" y="128588"/>
                </a:moveTo>
                <a:cubicBezTo>
                  <a:pt x="128588" y="134502"/>
                  <a:pt x="123786" y="139303"/>
                  <a:pt x="117872" y="139303"/>
                </a:cubicBezTo>
                <a:cubicBezTo>
                  <a:pt x="111958" y="139303"/>
                  <a:pt x="107156" y="134502"/>
                  <a:pt x="107156" y="128588"/>
                </a:cubicBezTo>
                <a:cubicBezTo>
                  <a:pt x="107156" y="122673"/>
                  <a:pt x="111958" y="117872"/>
                  <a:pt x="117872" y="117872"/>
                </a:cubicBezTo>
                <a:cubicBezTo>
                  <a:pt x="123786" y="117872"/>
                  <a:pt x="128588" y="122673"/>
                  <a:pt x="128588" y="128588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4" name="Text 52"/>
          <p:cNvSpPr/>
          <p:nvPr/>
        </p:nvSpPr>
        <p:spPr>
          <a:xfrm>
            <a:off x="8750261" y="3905131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Quishing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54961" y="4343281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code phishing directing users to malicious websites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54961" y="4648081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571500"/>
                </a:lnTo>
                <a:cubicBezTo>
                  <a:pt x="3400425" y="592528"/>
                  <a:pt x="3383353" y="609600"/>
                  <a:pt x="3362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7" name="Text 55"/>
          <p:cNvSpPr/>
          <p:nvPr/>
        </p:nvSpPr>
        <p:spPr>
          <a:xfrm>
            <a:off x="8369261" y="4762381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69261" y="4952763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users scanning QR codes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810" y="5756673"/>
            <a:ext cx="11418570" cy="960120"/>
          </a:xfrm>
          <a:custGeom>
            <a:avLst/>
            <a:gdLst/>
            <a:ahLst/>
            <a:cxnLst/>
            <a:rect l="l" t="t" r="r" b="b"/>
            <a:pathLst>
              <a:path w="11418570" h="960120">
                <a:moveTo>
                  <a:pt x="76205" y="0"/>
                </a:moveTo>
                <a:lnTo>
                  <a:pt x="11342365" y="0"/>
                </a:lnTo>
                <a:cubicBezTo>
                  <a:pt x="11384452" y="0"/>
                  <a:pt x="11418570" y="34118"/>
                  <a:pt x="11418570" y="76205"/>
                </a:cubicBezTo>
                <a:lnTo>
                  <a:pt x="11418570" y="883915"/>
                </a:lnTo>
                <a:cubicBezTo>
                  <a:pt x="11418570" y="926002"/>
                  <a:pt x="11384452" y="960120"/>
                  <a:pt x="1134236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4357" y="59509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61" name="Text 59"/>
          <p:cNvSpPr/>
          <p:nvPr/>
        </p:nvSpPr>
        <p:spPr>
          <a:xfrm>
            <a:off x="865703" y="5912883"/>
            <a:ext cx="1085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Email Compromise (BEC)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5703" y="6179583"/>
            <a:ext cx="10848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Sophisticated attacks impersonating executives or vendors to request wire transfers or sensitive data. 1,760% increase in social engineering-based BEC attacks. Often targets finance departments with fake invoices.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spc="46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65909"/>
            <a:ext cx="1167602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 Flags: How to Spot Phishing Emails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965373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critical warning signs every employee must recognize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2887" y="1364838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466042" y="149799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2553" y="1614504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20805"/>
                </a:moveTo>
                <a:cubicBezTo>
                  <a:pt x="48763" y="20805"/>
                  <a:pt x="20805" y="48763"/>
                  <a:pt x="20805" y="83222"/>
                </a:cubicBezTo>
                <a:cubicBezTo>
                  <a:pt x="20805" y="117681"/>
                  <a:pt x="48763" y="145638"/>
                  <a:pt x="83222" y="145638"/>
                </a:cubicBezTo>
                <a:cubicBezTo>
                  <a:pt x="88976" y="145638"/>
                  <a:pt x="93625" y="150287"/>
                  <a:pt x="93625" y="156041"/>
                </a:cubicBezTo>
                <a:cubicBezTo>
                  <a:pt x="93625" y="161795"/>
                  <a:pt x="88976" y="166444"/>
                  <a:pt x="83222" y="166444"/>
                </a:cubicBezTo>
                <a:cubicBezTo>
                  <a:pt x="37255" y="166444"/>
                  <a:pt x="0" y="129189"/>
                  <a:pt x="0" y="83222"/>
                </a:cubicBezTo>
                <a:cubicBezTo>
                  <a:pt x="0" y="37255"/>
                  <a:pt x="37255" y="0"/>
                  <a:pt x="83222" y="0"/>
                </a:cubicBezTo>
                <a:cubicBezTo>
                  <a:pt x="129189" y="0"/>
                  <a:pt x="166444" y="37255"/>
                  <a:pt x="166444" y="83222"/>
                </a:cubicBezTo>
                <a:lnTo>
                  <a:pt x="166444" y="93625"/>
                </a:lnTo>
                <a:cubicBezTo>
                  <a:pt x="166444" y="110854"/>
                  <a:pt x="152465" y="124833"/>
                  <a:pt x="135235" y="124833"/>
                </a:cubicBezTo>
                <a:cubicBezTo>
                  <a:pt x="125710" y="124833"/>
                  <a:pt x="117161" y="120542"/>
                  <a:pt x="111439" y="113812"/>
                </a:cubicBezTo>
                <a:cubicBezTo>
                  <a:pt x="104027" y="120639"/>
                  <a:pt x="94112" y="124833"/>
                  <a:pt x="83222" y="124833"/>
                </a:cubicBezTo>
                <a:cubicBezTo>
                  <a:pt x="60238" y="124833"/>
                  <a:pt x="41611" y="106205"/>
                  <a:pt x="41611" y="83222"/>
                </a:cubicBezTo>
                <a:cubicBezTo>
                  <a:pt x="41611" y="60238"/>
                  <a:pt x="60238" y="41611"/>
                  <a:pt x="83222" y="41611"/>
                </a:cubicBezTo>
                <a:cubicBezTo>
                  <a:pt x="92292" y="41611"/>
                  <a:pt x="100679" y="44504"/>
                  <a:pt x="107506" y="49445"/>
                </a:cubicBezTo>
                <a:cubicBezTo>
                  <a:pt x="109359" y="47820"/>
                  <a:pt x="111764" y="46812"/>
                  <a:pt x="114430" y="46812"/>
                </a:cubicBezTo>
                <a:cubicBezTo>
                  <a:pt x="120184" y="46812"/>
                  <a:pt x="124833" y="51461"/>
                  <a:pt x="124833" y="57215"/>
                </a:cubicBezTo>
                <a:lnTo>
                  <a:pt x="124833" y="93625"/>
                </a:lnTo>
                <a:cubicBezTo>
                  <a:pt x="124833" y="99379"/>
                  <a:pt x="129481" y="104027"/>
                  <a:pt x="135235" y="104027"/>
                </a:cubicBezTo>
                <a:cubicBezTo>
                  <a:pt x="140990" y="104027"/>
                  <a:pt x="145638" y="99379"/>
                  <a:pt x="145638" y="93625"/>
                </a:cubicBezTo>
                <a:lnTo>
                  <a:pt x="145638" y="83222"/>
                </a:lnTo>
                <a:cubicBezTo>
                  <a:pt x="145638" y="48763"/>
                  <a:pt x="117681" y="20805"/>
                  <a:pt x="83222" y="20805"/>
                </a:cubicBezTo>
                <a:close/>
                <a:moveTo>
                  <a:pt x="104027" y="83222"/>
                </a:moveTo>
                <a:cubicBezTo>
                  <a:pt x="104027" y="71739"/>
                  <a:pt x="94705" y="62416"/>
                  <a:pt x="83222" y="62416"/>
                </a:cubicBezTo>
                <a:cubicBezTo>
                  <a:pt x="71739" y="62416"/>
                  <a:pt x="62416" y="71739"/>
                  <a:pt x="62416" y="83222"/>
                </a:cubicBezTo>
                <a:cubicBezTo>
                  <a:pt x="62416" y="94705"/>
                  <a:pt x="71739" y="104027"/>
                  <a:pt x="83222" y="104027"/>
                </a:cubicBezTo>
                <a:cubicBezTo>
                  <a:pt x="94705" y="104027"/>
                  <a:pt x="104027" y="94705"/>
                  <a:pt x="104027" y="8322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998662" y="1497993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Suspicious Sender Addresses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8662" y="1797592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for misspelled domains, generic email providers, or subtle character substitutions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8662" y="2030613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1065240" y="209719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RED FLAGS: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5240" y="226353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paypa1.com • amaz0n.com • support@gmail.com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5346" y="1364838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8501" y="149799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45012" y="1614504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166444"/>
                </a:moveTo>
                <a:cubicBezTo>
                  <a:pt x="129153" y="166444"/>
                  <a:pt x="166444" y="129153"/>
                  <a:pt x="166444" y="83222"/>
                </a:cubicBezTo>
                <a:cubicBezTo>
                  <a:pt x="166444" y="37290"/>
                  <a:pt x="129153" y="0"/>
                  <a:pt x="83222" y="0"/>
                </a:cubicBezTo>
                <a:cubicBezTo>
                  <a:pt x="37290" y="0"/>
                  <a:pt x="0" y="37290"/>
                  <a:pt x="0" y="83222"/>
                </a:cubicBezTo>
                <a:cubicBezTo>
                  <a:pt x="0" y="129153"/>
                  <a:pt x="37290" y="166444"/>
                  <a:pt x="83222" y="166444"/>
                </a:cubicBezTo>
                <a:close/>
                <a:moveTo>
                  <a:pt x="83222" y="44212"/>
                </a:moveTo>
                <a:cubicBezTo>
                  <a:pt x="87545" y="44212"/>
                  <a:pt x="91024" y="47690"/>
                  <a:pt x="91024" y="52014"/>
                </a:cubicBezTo>
                <a:lnTo>
                  <a:pt x="91024" y="88423"/>
                </a:lnTo>
                <a:cubicBezTo>
                  <a:pt x="91024" y="92747"/>
                  <a:pt x="87545" y="96225"/>
                  <a:pt x="83222" y="96225"/>
                </a:cubicBezTo>
                <a:cubicBezTo>
                  <a:pt x="78898" y="96225"/>
                  <a:pt x="75420" y="92747"/>
                  <a:pt x="75420" y="88423"/>
                </a:cubicBezTo>
                <a:lnTo>
                  <a:pt x="75420" y="52014"/>
                </a:lnTo>
                <a:cubicBezTo>
                  <a:pt x="75420" y="47690"/>
                  <a:pt x="78898" y="44212"/>
                  <a:pt x="83222" y="44212"/>
                </a:cubicBezTo>
                <a:close/>
                <a:moveTo>
                  <a:pt x="74542" y="114430"/>
                </a:moveTo>
                <a:cubicBezTo>
                  <a:pt x="74345" y="111208"/>
                  <a:pt x="75951" y="108143"/>
                  <a:pt x="78713" y="106472"/>
                </a:cubicBezTo>
                <a:cubicBezTo>
                  <a:pt x="81475" y="104802"/>
                  <a:pt x="84936" y="104802"/>
                  <a:pt x="87698" y="106472"/>
                </a:cubicBezTo>
                <a:cubicBezTo>
                  <a:pt x="90460" y="108143"/>
                  <a:pt x="92067" y="111208"/>
                  <a:pt x="91869" y="114430"/>
                </a:cubicBezTo>
                <a:cubicBezTo>
                  <a:pt x="92067" y="117652"/>
                  <a:pt x="90460" y="120717"/>
                  <a:pt x="87698" y="122388"/>
                </a:cubicBezTo>
                <a:cubicBezTo>
                  <a:pt x="84936" y="124058"/>
                  <a:pt x="81475" y="124058"/>
                  <a:pt x="78713" y="122388"/>
                </a:cubicBezTo>
                <a:cubicBezTo>
                  <a:pt x="75951" y="120717"/>
                  <a:pt x="74345" y="117652"/>
                  <a:pt x="74542" y="11443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61121" y="1497993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Urgency &amp; Fear Tactics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61121" y="1797592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pressure to bypass critical thinking with threats or deadlines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61121" y="2030613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9" name="Text 17"/>
          <p:cNvSpPr/>
          <p:nvPr/>
        </p:nvSpPr>
        <p:spPr>
          <a:xfrm>
            <a:off x="6927698" y="209719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RED FLAGS: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27698" y="226353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"Account will be suspended" • "Immediate action required"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2887" y="2729469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042" y="2862624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2956" y="2979135"/>
            <a:ext cx="145638" cy="166444"/>
          </a:xfrm>
          <a:custGeom>
            <a:avLst/>
            <a:gdLst/>
            <a:ahLst/>
            <a:cxnLst/>
            <a:rect l="l" t="t" r="r" b="b"/>
            <a:pathLst>
              <a:path w="145638" h="166444">
                <a:moveTo>
                  <a:pt x="72819" y="80621"/>
                </a:moveTo>
                <a:cubicBezTo>
                  <a:pt x="94349" y="80621"/>
                  <a:pt x="111829" y="63141"/>
                  <a:pt x="111829" y="41611"/>
                </a:cubicBezTo>
                <a:cubicBezTo>
                  <a:pt x="111829" y="20081"/>
                  <a:pt x="94349" y="2601"/>
                  <a:pt x="72819" y="2601"/>
                </a:cubicBezTo>
                <a:cubicBezTo>
                  <a:pt x="51289" y="2601"/>
                  <a:pt x="33809" y="20081"/>
                  <a:pt x="33809" y="41611"/>
                </a:cubicBezTo>
                <a:cubicBezTo>
                  <a:pt x="33809" y="63141"/>
                  <a:pt x="51289" y="80621"/>
                  <a:pt x="72819" y="80621"/>
                </a:cubicBezTo>
                <a:close/>
                <a:moveTo>
                  <a:pt x="63164" y="98826"/>
                </a:moveTo>
                <a:cubicBezTo>
                  <a:pt x="31143" y="98826"/>
                  <a:pt x="5201" y="124768"/>
                  <a:pt x="5201" y="156789"/>
                </a:cubicBezTo>
                <a:cubicBezTo>
                  <a:pt x="5201" y="162120"/>
                  <a:pt x="9525" y="166444"/>
                  <a:pt x="14856" y="166444"/>
                </a:cubicBezTo>
                <a:lnTo>
                  <a:pt x="130782" y="166444"/>
                </a:lnTo>
                <a:cubicBezTo>
                  <a:pt x="136113" y="166444"/>
                  <a:pt x="140437" y="162120"/>
                  <a:pt x="140437" y="156789"/>
                </a:cubicBezTo>
                <a:cubicBezTo>
                  <a:pt x="140437" y="124768"/>
                  <a:pt x="114495" y="98826"/>
                  <a:pt x="82474" y="98826"/>
                </a:cubicBezTo>
                <a:lnTo>
                  <a:pt x="63164" y="9882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998662" y="2862624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Generic Greetings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8662" y="3162223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personalization when legitimate companies use your name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8662" y="3395244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240" y="346182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RED FLAGS: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5240" y="362816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"Dear Customer" • "Valued User" • "Hello Member"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5346" y="2729469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28501" y="2862624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45012" y="297913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73014" y="4161"/>
                </a:moveTo>
                <a:cubicBezTo>
                  <a:pt x="91284" y="-14109"/>
                  <a:pt x="120932" y="-14109"/>
                  <a:pt x="139202" y="4161"/>
                </a:cubicBezTo>
                <a:cubicBezTo>
                  <a:pt x="157471" y="22431"/>
                  <a:pt x="157471" y="52079"/>
                  <a:pt x="139202" y="70348"/>
                </a:cubicBezTo>
                <a:lnTo>
                  <a:pt x="85888" y="123662"/>
                </a:lnTo>
                <a:cubicBezTo>
                  <a:pt x="74705" y="134845"/>
                  <a:pt x="56597" y="134845"/>
                  <a:pt x="45414" y="123662"/>
                </a:cubicBezTo>
                <a:cubicBezTo>
                  <a:pt x="34231" y="112480"/>
                  <a:pt x="34231" y="94372"/>
                  <a:pt x="45414" y="83189"/>
                </a:cubicBezTo>
                <a:lnTo>
                  <a:pt x="95087" y="33581"/>
                </a:lnTo>
                <a:cubicBezTo>
                  <a:pt x="99151" y="29518"/>
                  <a:pt x="105750" y="29518"/>
                  <a:pt x="109814" y="33581"/>
                </a:cubicBezTo>
                <a:cubicBezTo>
                  <a:pt x="113877" y="37645"/>
                  <a:pt x="113877" y="44244"/>
                  <a:pt x="109814" y="48308"/>
                </a:cubicBezTo>
                <a:lnTo>
                  <a:pt x="60141" y="97948"/>
                </a:lnTo>
                <a:cubicBezTo>
                  <a:pt x="57085" y="101004"/>
                  <a:pt x="57085" y="105945"/>
                  <a:pt x="60141" y="108969"/>
                </a:cubicBezTo>
                <a:cubicBezTo>
                  <a:pt x="63197" y="111992"/>
                  <a:pt x="68138" y="112024"/>
                  <a:pt x="71161" y="108969"/>
                </a:cubicBezTo>
                <a:lnTo>
                  <a:pt x="124475" y="55655"/>
                </a:lnTo>
                <a:cubicBezTo>
                  <a:pt x="134618" y="45512"/>
                  <a:pt x="134618" y="29030"/>
                  <a:pt x="124475" y="18887"/>
                </a:cubicBezTo>
                <a:cubicBezTo>
                  <a:pt x="114333" y="8745"/>
                  <a:pt x="97851" y="8745"/>
                  <a:pt x="87708" y="18887"/>
                </a:cubicBezTo>
                <a:lnTo>
                  <a:pt x="34394" y="72201"/>
                </a:lnTo>
                <a:cubicBezTo>
                  <a:pt x="17132" y="89463"/>
                  <a:pt x="17132" y="117453"/>
                  <a:pt x="34394" y="134715"/>
                </a:cubicBezTo>
                <a:cubicBezTo>
                  <a:pt x="51656" y="151977"/>
                  <a:pt x="79646" y="151977"/>
                  <a:pt x="96908" y="134715"/>
                </a:cubicBezTo>
                <a:lnTo>
                  <a:pt x="139234" y="92422"/>
                </a:lnTo>
                <a:cubicBezTo>
                  <a:pt x="143298" y="88358"/>
                  <a:pt x="149897" y="88358"/>
                  <a:pt x="153960" y="92422"/>
                </a:cubicBezTo>
                <a:cubicBezTo>
                  <a:pt x="158024" y="96485"/>
                  <a:pt x="158024" y="103085"/>
                  <a:pt x="153960" y="107148"/>
                </a:cubicBezTo>
                <a:lnTo>
                  <a:pt x="111634" y="149409"/>
                </a:lnTo>
                <a:cubicBezTo>
                  <a:pt x="86245" y="174798"/>
                  <a:pt x="45089" y="174798"/>
                  <a:pt x="19700" y="149409"/>
                </a:cubicBezTo>
                <a:cubicBezTo>
                  <a:pt x="-5689" y="124020"/>
                  <a:pt x="-5689" y="82864"/>
                  <a:pt x="19700" y="57475"/>
                </a:cubicBezTo>
                <a:lnTo>
                  <a:pt x="73014" y="416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6861121" y="2862624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Unexpected Attachments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61121" y="3162223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you didn't request, especially executables or compressed archives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61121" y="3395244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5" name="Text 33"/>
          <p:cNvSpPr/>
          <p:nvPr/>
        </p:nvSpPr>
        <p:spPr>
          <a:xfrm>
            <a:off x="6927698" y="346182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DANGEROUS: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27698" y="362816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.exe • .zip • .docm • .js • .svg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2887" y="4094098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042" y="422725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150" y="4343764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136373" y="31208"/>
                </a:moveTo>
                <a:cubicBezTo>
                  <a:pt x="130977" y="31208"/>
                  <a:pt x="125743" y="32671"/>
                  <a:pt x="121159" y="35337"/>
                </a:cubicBezTo>
                <a:cubicBezTo>
                  <a:pt x="116023" y="30135"/>
                  <a:pt x="110041" y="25779"/>
                  <a:pt x="103442" y="22496"/>
                </a:cubicBezTo>
                <a:cubicBezTo>
                  <a:pt x="112610" y="14694"/>
                  <a:pt x="124280" y="10403"/>
                  <a:pt x="136373" y="10403"/>
                </a:cubicBezTo>
                <a:cubicBezTo>
                  <a:pt x="164461" y="10403"/>
                  <a:pt x="187249" y="33159"/>
                  <a:pt x="187249" y="61279"/>
                </a:cubicBezTo>
                <a:cubicBezTo>
                  <a:pt x="187249" y="74770"/>
                  <a:pt x="181885" y="87708"/>
                  <a:pt x="172360" y="97233"/>
                </a:cubicBezTo>
                <a:lnTo>
                  <a:pt x="149247" y="120347"/>
                </a:lnTo>
                <a:cubicBezTo>
                  <a:pt x="139722" y="129872"/>
                  <a:pt x="126783" y="135235"/>
                  <a:pt x="113292" y="135235"/>
                </a:cubicBezTo>
                <a:cubicBezTo>
                  <a:pt x="85205" y="135235"/>
                  <a:pt x="62416" y="112480"/>
                  <a:pt x="62416" y="84360"/>
                </a:cubicBezTo>
                <a:cubicBezTo>
                  <a:pt x="62416" y="83872"/>
                  <a:pt x="62416" y="83384"/>
                  <a:pt x="62449" y="82897"/>
                </a:cubicBezTo>
                <a:cubicBezTo>
                  <a:pt x="62611" y="77143"/>
                  <a:pt x="67390" y="72624"/>
                  <a:pt x="73144" y="72787"/>
                </a:cubicBezTo>
                <a:cubicBezTo>
                  <a:pt x="78898" y="72949"/>
                  <a:pt x="83417" y="77728"/>
                  <a:pt x="83254" y="83482"/>
                </a:cubicBezTo>
                <a:cubicBezTo>
                  <a:pt x="83254" y="83774"/>
                  <a:pt x="83254" y="84067"/>
                  <a:pt x="83254" y="84327"/>
                </a:cubicBezTo>
                <a:cubicBezTo>
                  <a:pt x="83254" y="100939"/>
                  <a:pt x="96713" y="114398"/>
                  <a:pt x="113325" y="114398"/>
                </a:cubicBezTo>
                <a:cubicBezTo>
                  <a:pt x="121289" y="114398"/>
                  <a:pt x="128929" y="111244"/>
                  <a:pt x="134585" y="105588"/>
                </a:cubicBezTo>
                <a:lnTo>
                  <a:pt x="157699" y="82474"/>
                </a:lnTo>
                <a:cubicBezTo>
                  <a:pt x="163323" y="76850"/>
                  <a:pt x="166509" y="69178"/>
                  <a:pt x="166509" y="61214"/>
                </a:cubicBezTo>
                <a:cubicBezTo>
                  <a:pt x="166509" y="44602"/>
                  <a:pt x="153050" y="31143"/>
                  <a:pt x="136438" y="31143"/>
                </a:cubicBezTo>
                <a:close/>
                <a:moveTo>
                  <a:pt x="89463" y="56337"/>
                </a:moveTo>
                <a:cubicBezTo>
                  <a:pt x="88846" y="56077"/>
                  <a:pt x="88228" y="55720"/>
                  <a:pt x="87676" y="55330"/>
                </a:cubicBezTo>
                <a:cubicBezTo>
                  <a:pt x="83579" y="53216"/>
                  <a:pt x="78898" y="52014"/>
                  <a:pt x="73989" y="52014"/>
                </a:cubicBezTo>
                <a:cubicBezTo>
                  <a:pt x="66025" y="52014"/>
                  <a:pt x="58385" y="55167"/>
                  <a:pt x="52729" y="60823"/>
                </a:cubicBezTo>
                <a:lnTo>
                  <a:pt x="29615" y="83937"/>
                </a:lnTo>
                <a:cubicBezTo>
                  <a:pt x="23991" y="89561"/>
                  <a:pt x="20805" y="97233"/>
                  <a:pt x="20805" y="105198"/>
                </a:cubicBezTo>
                <a:cubicBezTo>
                  <a:pt x="20805" y="121809"/>
                  <a:pt x="34264" y="135268"/>
                  <a:pt x="50876" y="135268"/>
                </a:cubicBezTo>
                <a:cubicBezTo>
                  <a:pt x="56240" y="135268"/>
                  <a:pt x="61474" y="133838"/>
                  <a:pt x="66057" y="131172"/>
                </a:cubicBezTo>
                <a:cubicBezTo>
                  <a:pt x="71194" y="136373"/>
                  <a:pt x="77175" y="140729"/>
                  <a:pt x="83807" y="144013"/>
                </a:cubicBezTo>
                <a:cubicBezTo>
                  <a:pt x="74640" y="151782"/>
                  <a:pt x="63002" y="156106"/>
                  <a:pt x="50876" y="156106"/>
                </a:cubicBezTo>
                <a:cubicBezTo>
                  <a:pt x="22788" y="156106"/>
                  <a:pt x="0" y="133350"/>
                  <a:pt x="0" y="105230"/>
                </a:cubicBezTo>
                <a:cubicBezTo>
                  <a:pt x="0" y="91739"/>
                  <a:pt x="5364" y="78801"/>
                  <a:pt x="14889" y="69276"/>
                </a:cubicBezTo>
                <a:lnTo>
                  <a:pt x="38002" y="46162"/>
                </a:lnTo>
                <a:cubicBezTo>
                  <a:pt x="47527" y="36637"/>
                  <a:pt x="60466" y="31273"/>
                  <a:pt x="73957" y="31273"/>
                </a:cubicBezTo>
                <a:cubicBezTo>
                  <a:pt x="102109" y="31273"/>
                  <a:pt x="124833" y="54224"/>
                  <a:pt x="124833" y="82279"/>
                </a:cubicBezTo>
                <a:cubicBezTo>
                  <a:pt x="124833" y="82702"/>
                  <a:pt x="124833" y="83124"/>
                  <a:pt x="124833" y="83547"/>
                </a:cubicBezTo>
                <a:cubicBezTo>
                  <a:pt x="124703" y="89301"/>
                  <a:pt x="119924" y="93820"/>
                  <a:pt x="114170" y="93690"/>
                </a:cubicBezTo>
                <a:cubicBezTo>
                  <a:pt x="108416" y="93560"/>
                  <a:pt x="103897" y="88781"/>
                  <a:pt x="104027" y="83027"/>
                </a:cubicBezTo>
                <a:cubicBezTo>
                  <a:pt x="104027" y="82767"/>
                  <a:pt x="104027" y="82539"/>
                  <a:pt x="104027" y="82279"/>
                </a:cubicBezTo>
                <a:cubicBezTo>
                  <a:pt x="104027" y="71324"/>
                  <a:pt x="98176" y="61701"/>
                  <a:pt x="89463" y="5640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0" name="Text 38"/>
          <p:cNvSpPr/>
          <p:nvPr/>
        </p:nvSpPr>
        <p:spPr>
          <a:xfrm>
            <a:off x="998662" y="4227253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Mismatched or Hidden URLs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8662" y="4526852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Hover to reveal true destinations - don't trust displayed text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8662" y="4759873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3" name="Text 41"/>
          <p:cNvSpPr/>
          <p:nvPr/>
        </p:nvSpPr>
        <p:spPr>
          <a:xfrm>
            <a:off x="1065240" y="482645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CHECK FOR: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5240" y="499279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Shortened URLs • IP addresses • Misspelled domains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346" y="4094098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6" name="Shape 44"/>
          <p:cNvSpPr/>
          <p:nvPr/>
        </p:nvSpPr>
        <p:spPr>
          <a:xfrm>
            <a:off x="6328501" y="422725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45012" y="4343764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04515" y="22366"/>
                </a:moveTo>
                <a:cubicBezTo>
                  <a:pt x="106986" y="18172"/>
                  <a:pt x="111472" y="15604"/>
                  <a:pt x="116316" y="15604"/>
                </a:cubicBezTo>
                <a:lnTo>
                  <a:pt x="117031" y="15604"/>
                </a:lnTo>
                <a:cubicBezTo>
                  <a:pt x="124215" y="15604"/>
                  <a:pt x="130034" y="21423"/>
                  <a:pt x="130034" y="28608"/>
                </a:cubicBezTo>
                <a:cubicBezTo>
                  <a:pt x="130034" y="35792"/>
                  <a:pt x="124215" y="41611"/>
                  <a:pt x="117031" y="41611"/>
                </a:cubicBezTo>
                <a:lnTo>
                  <a:pt x="93202" y="41611"/>
                </a:lnTo>
                <a:lnTo>
                  <a:pt x="104515" y="22366"/>
                </a:lnTo>
                <a:close/>
                <a:moveTo>
                  <a:pt x="61929" y="22366"/>
                </a:moveTo>
                <a:lnTo>
                  <a:pt x="73242" y="41611"/>
                </a:lnTo>
                <a:lnTo>
                  <a:pt x="49413" y="41611"/>
                </a:lnTo>
                <a:cubicBezTo>
                  <a:pt x="42229" y="41611"/>
                  <a:pt x="36410" y="35792"/>
                  <a:pt x="36410" y="28608"/>
                </a:cubicBezTo>
                <a:cubicBezTo>
                  <a:pt x="36410" y="21423"/>
                  <a:pt x="42229" y="15604"/>
                  <a:pt x="49413" y="15604"/>
                </a:cubicBezTo>
                <a:lnTo>
                  <a:pt x="50128" y="15604"/>
                </a:lnTo>
                <a:cubicBezTo>
                  <a:pt x="54972" y="15604"/>
                  <a:pt x="59491" y="18172"/>
                  <a:pt x="61929" y="22366"/>
                </a:cubicBezTo>
                <a:close/>
                <a:moveTo>
                  <a:pt x="91056" y="14466"/>
                </a:moveTo>
                <a:lnTo>
                  <a:pt x="83222" y="27795"/>
                </a:lnTo>
                <a:lnTo>
                  <a:pt x="75387" y="14466"/>
                </a:lnTo>
                <a:cubicBezTo>
                  <a:pt x="70121" y="5494"/>
                  <a:pt x="60498" y="0"/>
                  <a:pt x="50128" y="0"/>
                </a:cubicBezTo>
                <a:lnTo>
                  <a:pt x="49413" y="0"/>
                </a:lnTo>
                <a:cubicBezTo>
                  <a:pt x="33614" y="0"/>
                  <a:pt x="20805" y="12808"/>
                  <a:pt x="20805" y="28608"/>
                </a:cubicBezTo>
                <a:cubicBezTo>
                  <a:pt x="20805" y="33289"/>
                  <a:pt x="21943" y="37710"/>
                  <a:pt x="23926" y="41611"/>
                </a:cubicBezTo>
                <a:lnTo>
                  <a:pt x="10403" y="41611"/>
                </a:lnTo>
                <a:cubicBezTo>
                  <a:pt x="4649" y="41611"/>
                  <a:pt x="0" y="46260"/>
                  <a:pt x="0" y="52014"/>
                </a:cubicBezTo>
                <a:lnTo>
                  <a:pt x="0" y="62416"/>
                </a:lnTo>
                <a:cubicBezTo>
                  <a:pt x="0" y="68170"/>
                  <a:pt x="4649" y="72819"/>
                  <a:pt x="10403" y="72819"/>
                </a:cubicBezTo>
                <a:lnTo>
                  <a:pt x="156041" y="72819"/>
                </a:lnTo>
                <a:cubicBezTo>
                  <a:pt x="161795" y="72819"/>
                  <a:pt x="166444" y="68170"/>
                  <a:pt x="166444" y="62416"/>
                </a:cubicBezTo>
                <a:lnTo>
                  <a:pt x="166444" y="52014"/>
                </a:lnTo>
                <a:cubicBezTo>
                  <a:pt x="166444" y="46260"/>
                  <a:pt x="161795" y="41611"/>
                  <a:pt x="156041" y="41611"/>
                </a:cubicBezTo>
                <a:lnTo>
                  <a:pt x="142517" y="41611"/>
                </a:lnTo>
                <a:cubicBezTo>
                  <a:pt x="144500" y="37710"/>
                  <a:pt x="145638" y="33289"/>
                  <a:pt x="145638" y="28608"/>
                </a:cubicBezTo>
                <a:cubicBezTo>
                  <a:pt x="145638" y="12808"/>
                  <a:pt x="132830" y="0"/>
                  <a:pt x="117031" y="0"/>
                </a:cubicBezTo>
                <a:lnTo>
                  <a:pt x="116316" y="0"/>
                </a:lnTo>
                <a:cubicBezTo>
                  <a:pt x="105945" y="0"/>
                  <a:pt x="96323" y="5494"/>
                  <a:pt x="91056" y="14434"/>
                </a:cubicBezTo>
                <a:close/>
                <a:moveTo>
                  <a:pt x="156041" y="88423"/>
                </a:moveTo>
                <a:lnTo>
                  <a:pt x="91024" y="88423"/>
                </a:lnTo>
                <a:lnTo>
                  <a:pt x="91024" y="156041"/>
                </a:lnTo>
                <a:lnTo>
                  <a:pt x="135235" y="156041"/>
                </a:lnTo>
                <a:cubicBezTo>
                  <a:pt x="146711" y="156041"/>
                  <a:pt x="156041" y="146711"/>
                  <a:pt x="156041" y="135235"/>
                </a:cubicBezTo>
                <a:lnTo>
                  <a:pt x="156041" y="88423"/>
                </a:lnTo>
                <a:close/>
                <a:moveTo>
                  <a:pt x="75420" y="88423"/>
                </a:moveTo>
                <a:lnTo>
                  <a:pt x="10403" y="88423"/>
                </a:lnTo>
                <a:lnTo>
                  <a:pt x="10403" y="135235"/>
                </a:lnTo>
                <a:cubicBezTo>
                  <a:pt x="10403" y="146711"/>
                  <a:pt x="19733" y="156041"/>
                  <a:pt x="31208" y="156041"/>
                </a:cubicBezTo>
                <a:lnTo>
                  <a:pt x="75420" y="156041"/>
                </a:lnTo>
                <a:lnTo>
                  <a:pt x="75420" y="88423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8" name="Text 46"/>
          <p:cNvSpPr/>
          <p:nvPr/>
        </p:nvSpPr>
        <p:spPr>
          <a:xfrm>
            <a:off x="6861121" y="4227253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Too-Good-To-Be-True Offers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61121" y="4526852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Exploiting greed with unexpected prizes or rewards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61121" y="4759873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1" name="Text 49"/>
          <p:cNvSpPr/>
          <p:nvPr/>
        </p:nvSpPr>
        <p:spPr>
          <a:xfrm>
            <a:off x="6927698" y="482645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RED FLAGS: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27698" y="4992790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"You've won!" • Free gift cards • Lottery winnings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2887" y="5458729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54" name="Shape 52"/>
          <p:cNvSpPr/>
          <p:nvPr/>
        </p:nvSpPr>
        <p:spPr>
          <a:xfrm>
            <a:off x="466042" y="5591884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72150" y="5708395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39010" y="10403"/>
                </a:moveTo>
                <a:cubicBezTo>
                  <a:pt x="23211" y="10403"/>
                  <a:pt x="10403" y="23211"/>
                  <a:pt x="10403" y="39010"/>
                </a:cubicBezTo>
                <a:lnTo>
                  <a:pt x="10403" y="93625"/>
                </a:lnTo>
                <a:cubicBezTo>
                  <a:pt x="10403" y="99379"/>
                  <a:pt x="15051" y="104027"/>
                  <a:pt x="20805" y="104027"/>
                </a:cubicBezTo>
                <a:cubicBezTo>
                  <a:pt x="26559" y="104027"/>
                  <a:pt x="31208" y="99379"/>
                  <a:pt x="31208" y="93625"/>
                </a:cubicBezTo>
                <a:lnTo>
                  <a:pt x="31208" y="72819"/>
                </a:lnTo>
                <a:lnTo>
                  <a:pt x="52014" y="72819"/>
                </a:lnTo>
                <a:lnTo>
                  <a:pt x="52014" y="93625"/>
                </a:lnTo>
                <a:cubicBezTo>
                  <a:pt x="52014" y="99379"/>
                  <a:pt x="56662" y="104027"/>
                  <a:pt x="62416" y="104027"/>
                </a:cubicBezTo>
                <a:cubicBezTo>
                  <a:pt x="68170" y="104027"/>
                  <a:pt x="72819" y="99379"/>
                  <a:pt x="72819" y="93625"/>
                </a:cubicBezTo>
                <a:lnTo>
                  <a:pt x="72819" y="39010"/>
                </a:lnTo>
                <a:cubicBezTo>
                  <a:pt x="72819" y="23211"/>
                  <a:pt x="60011" y="10403"/>
                  <a:pt x="44212" y="10403"/>
                </a:cubicBezTo>
                <a:lnTo>
                  <a:pt x="39010" y="10403"/>
                </a:lnTo>
                <a:close/>
                <a:moveTo>
                  <a:pt x="52014" y="52014"/>
                </a:moveTo>
                <a:lnTo>
                  <a:pt x="31208" y="52014"/>
                </a:lnTo>
                <a:lnTo>
                  <a:pt x="31208" y="39010"/>
                </a:lnTo>
                <a:cubicBezTo>
                  <a:pt x="31208" y="34687"/>
                  <a:pt x="34687" y="31208"/>
                  <a:pt x="39010" y="31208"/>
                </a:cubicBezTo>
                <a:lnTo>
                  <a:pt x="44212" y="31208"/>
                </a:lnTo>
                <a:cubicBezTo>
                  <a:pt x="48535" y="31208"/>
                  <a:pt x="52014" y="34687"/>
                  <a:pt x="52014" y="39010"/>
                </a:cubicBezTo>
                <a:lnTo>
                  <a:pt x="52014" y="52014"/>
                </a:lnTo>
                <a:close/>
                <a:moveTo>
                  <a:pt x="98826" y="10403"/>
                </a:moveTo>
                <a:cubicBezTo>
                  <a:pt x="93072" y="10403"/>
                  <a:pt x="88423" y="15051"/>
                  <a:pt x="88423" y="20805"/>
                </a:cubicBezTo>
                <a:lnTo>
                  <a:pt x="88423" y="93625"/>
                </a:lnTo>
                <a:cubicBezTo>
                  <a:pt x="88423" y="99379"/>
                  <a:pt x="93072" y="104027"/>
                  <a:pt x="98826" y="104027"/>
                </a:cubicBezTo>
                <a:lnTo>
                  <a:pt x="122232" y="104027"/>
                </a:lnTo>
                <a:cubicBezTo>
                  <a:pt x="138031" y="104027"/>
                  <a:pt x="150840" y="91219"/>
                  <a:pt x="150840" y="75420"/>
                </a:cubicBezTo>
                <a:cubicBezTo>
                  <a:pt x="150840" y="67748"/>
                  <a:pt x="147816" y="60791"/>
                  <a:pt x="142908" y="55655"/>
                </a:cubicBezTo>
                <a:cubicBezTo>
                  <a:pt x="146256" y="50973"/>
                  <a:pt x="148239" y="45219"/>
                  <a:pt x="148239" y="39010"/>
                </a:cubicBezTo>
                <a:cubicBezTo>
                  <a:pt x="148239" y="23211"/>
                  <a:pt x="135431" y="10403"/>
                  <a:pt x="119631" y="10403"/>
                </a:cubicBezTo>
                <a:lnTo>
                  <a:pt x="98826" y="10403"/>
                </a:lnTo>
                <a:close/>
                <a:moveTo>
                  <a:pt x="119631" y="46812"/>
                </a:moveTo>
                <a:lnTo>
                  <a:pt x="109229" y="46812"/>
                </a:lnTo>
                <a:lnTo>
                  <a:pt x="109229" y="31208"/>
                </a:lnTo>
                <a:lnTo>
                  <a:pt x="119631" y="31208"/>
                </a:lnTo>
                <a:cubicBezTo>
                  <a:pt x="123955" y="31208"/>
                  <a:pt x="127433" y="34687"/>
                  <a:pt x="127433" y="39010"/>
                </a:cubicBezTo>
                <a:cubicBezTo>
                  <a:pt x="127433" y="43334"/>
                  <a:pt x="123955" y="46812"/>
                  <a:pt x="119631" y="46812"/>
                </a:cubicBezTo>
                <a:close/>
                <a:moveTo>
                  <a:pt x="109229" y="83222"/>
                </a:moveTo>
                <a:lnTo>
                  <a:pt x="109229" y="67618"/>
                </a:lnTo>
                <a:lnTo>
                  <a:pt x="122232" y="67618"/>
                </a:lnTo>
                <a:cubicBezTo>
                  <a:pt x="126556" y="67618"/>
                  <a:pt x="130034" y="71096"/>
                  <a:pt x="130034" y="75420"/>
                </a:cubicBezTo>
                <a:cubicBezTo>
                  <a:pt x="130034" y="79743"/>
                  <a:pt x="126556" y="83222"/>
                  <a:pt x="122232" y="83222"/>
                </a:cubicBezTo>
                <a:lnTo>
                  <a:pt x="109229" y="83222"/>
                </a:lnTo>
                <a:close/>
                <a:moveTo>
                  <a:pt x="184974" y="110529"/>
                </a:moveTo>
                <a:cubicBezTo>
                  <a:pt x="188549" y="106043"/>
                  <a:pt x="187834" y="99509"/>
                  <a:pt x="183348" y="95900"/>
                </a:cubicBezTo>
                <a:cubicBezTo>
                  <a:pt x="178862" y="92292"/>
                  <a:pt x="172328" y="93039"/>
                  <a:pt x="168719" y="97526"/>
                </a:cubicBezTo>
                <a:lnTo>
                  <a:pt x="134358" y="140469"/>
                </a:lnTo>
                <a:lnTo>
                  <a:pt x="121777" y="127889"/>
                </a:lnTo>
                <a:cubicBezTo>
                  <a:pt x="117713" y="123825"/>
                  <a:pt x="111114" y="123825"/>
                  <a:pt x="107051" y="127889"/>
                </a:cubicBezTo>
                <a:cubicBezTo>
                  <a:pt x="102987" y="131952"/>
                  <a:pt x="102987" y="138551"/>
                  <a:pt x="107051" y="142615"/>
                </a:cubicBezTo>
                <a:lnTo>
                  <a:pt x="127856" y="163420"/>
                </a:lnTo>
                <a:cubicBezTo>
                  <a:pt x="129937" y="165501"/>
                  <a:pt x="132830" y="166606"/>
                  <a:pt x="135788" y="166444"/>
                </a:cubicBezTo>
                <a:cubicBezTo>
                  <a:pt x="138746" y="166281"/>
                  <a:pt x="141477" y="164851"/>
                  <a:pt x="143330" y="162543"/>
                </a:cubicBezTo>
                <a:lnTo>
                  <a:pt x="184974" y="11052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998662" y="5591884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Poor Grammar &amp; Spelling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98662" y="5891483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organizations have editing processes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8662" y="6124504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9" name="Text 57"/>
          <p:cNvSpPr/>
          <p:nvPr/>
        </p:nvSpPr>
        <p:spPr>
          <a:xfrm>
            <a:off x="1065240" y="619108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WATCH FOR: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65240" y="635742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Awkward phrasing • Inconsistent formatting • Typos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95346" y="5458729"/>
            <a:ext cx="5659085" cy="1231683"/>
          </a:xfrm>
          <a:custGeom>
            <a:avLst/>
            <a:gdLst/>
            <a:ahLst/>
            <a:cxnLst/>
            <a:rect l="l" t="t" r="r" b="b"/>
            <a:pathLst>
              <a:path w="5659085" h="1231683">
                <a:moveTo>
                  <a:pt x="66572" y="0"/>
                </a:moveTo>
                <a:lnTo>
                  <a:pt x="5592513" y="0"/>
                </a:lnTo>
                <a:cubicBezTo>
                  <a:pt x="5629280" y="0"/>
                  <a:pt x="5659085" y="29806"/>
                  <a:pt x="5659085" y="66572"/>
                </a:cubicBezTo>
                <a:lnTo>
                  <a:pt x="5659085" y="1165111"/>
                </a:lnTo>
                <a:cubicBezTo>
                  <a:pt x="5659085" y="1201878"/>
                  <a:pt x="5629280" y="1231683"/>
                  <a:pt x="5592513" y="1231683"/>
                </a:cubicBezTo>
                <a:lnTo>
                  <a:pt x="66572" y="1231683"/>
                </a:lnTo>
                <a:cubicBezTo>
                  <a:pt x="29806" y="1231683"/>
                  <a:pt x="0" y="1201878"/>
                  <a:pt x="0" y="1165111"/>
                </a:cubicBezTo>
                <a:lnTo>
                  <a:pt x="0" y="66572"/>
                </a:lnTo>
                <a:cubicBezTo>
                  <a:pt x="0" y="29830"/>
                  <a:pt x="29830" y="0"/>
                  <a:pt x="66572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2" name="Shape 60"/>
          <p:cNvSpPr/>
          <p:nvPr/>
        </p:nvSpPr>
        <p:spPr>
          <a:xfrm>
            <a:off x="6328501" y="5591884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45012" y="570839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09229" y="114430"/>
                </a:moveTo>
                <a:cubicBezTo>
                  <a:pt x="140827" y="114430"/>
                  <a:pt x="166444" y="88813"/>
                  <a:pt x="166444" y="57215"/>
                </a:cubicBezTo>
                <a:cubicBezTo>
                  <a:pt x="166444" y="25617"/>
                  <a:pt x="140827" y="0"/>
                  <a:pt x="109229" y="0"/>
                </a:cubicBezTo>
                <a:cubicBezTo>
                  <a:pt x="77630" y="0"/>
                  <a:pt x="52014" y="25617"/>
                  <a:pt x="52014" y="57215"/>
                </a:cubicBezTo>
                <a:cubicBezTo>
                  <a:pt x="52014" y="63294"/>
                  <a:pt x="52956" y="69178"/>
                  <a:pt x="54712" y="74672"/>
                </a:cubicBezTo>
                <a:lnTo>
                  <a:pt x="2276" y="127108"/>
                </a:lnTo>
                <a:cubicBezTo>
                  <a:pt x="813" y="128571"/>
                  <a:pt x="0" y="130554"/>
                  <a:pt x="0" y="132635"/>
                </a:cubicBezTo>
                <a:lnTo>
                  <a:pt x="0" y="158642"/>
                </a:lnTo>
                <a:cubicBezTo>
                  <a:pt x="0" y="162965"/>
                  <a:pt x="3478" y="166444"/>
                  <a:pt x="7802" y="166444"/>
                </a:cubicBezTo>
                <a:lnTo>
                  <a:pt x="33809" y="166444"/>
                </a:lnTo>
                <a:cubicBezTo>
                  <a:pt x="38133" y="166444"/>
                  <a:pt x="41611" y="162965"/>
                  <a:pt x="41611" y="158642"/>
                </a:cubicBezTo>
                <a:lnTo>
                  <a:pt x="41611" y="145638"/>
                </a:lnTo>
                <a:lnTo>
                  <a:pt x="54614" y="145638"/>
                </a:lnTo>
                <a:cubicBezTo>
                  <a:pt x="58938" y="145638"/>
                  <a:pt x="62416" y="142160"/>
                  <a:pt x="62416" y="137836"/>
                </a:cubicBezTo>
                <a:lnTo>
                  <a:pt x="62416" y="124833"/>
                </a:lnTo>
                <a:lnTo>
                  <a:pt x="75420" y="124833"/>
                </a:lnTo>
                <a:cubicBezTo>
                  <a:pt x="77500" y="124833"/>
                  <a:pt x="79483" y="124020"/>
                  <a:pt x="80946" y="122557"/>
                </a:cubicBezTo>
                <a:lnTo>
                  <a:pt x="91772" y="111732"/>
                </a:lnTo>
                <a:cubicBezTo>
                  <a:pt x="97266" y="113487"/>
                  <a:pt x="103150" y="114430"/>
                  <a:pt x="109229" y="114430"/>
                </a:cubicBezTo>
                <a:close/>
                <a:moveTo>
                  <a:pt x="122232" y="31208"/>
                </a:moveTo>
                <a:cubicBezTo>
                  <a:pt x="129409" y="31208"/>
                  <a:pt x="135235" y="37035"/>
                  <a:pt x="135235" y="44212"/>
                </a:cubicBezTo>
                <a:cubicBezTo>
                  <a:pt x="135235" y="51388"/>
                  <a:pt x="129409" y="57215"/>
                  <a:pt x="122232" y="57215"/>
                </a:cubicBezTo>
                <a:cubicBezTo>
                  <a:pt x="115055" y="57215"/>
                  <a:pt x="109229" y="51388"/>
                  <a:pt x="109229" y="44212"/>
                </a:cubicBezTo>
                <a:cubicBezTo>
                  <a:pt x="109229" y="37035"/>
                  <a:pt x="115055" y="31208"/>
                  <a:pt x="122232" y="31208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64" name="Text 62"/>
          <p:cNvSpPr/>
          <p:nvPr/>
        </p:nvSpPr>
        <p:spPr>
          <a:xfrm>
            <a:off x="6861121" y="5591884"/>
            <a:ext cx="493505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Requests for Sensitive Info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61121" y="5891483"/>
            <a:ext cx="491841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Legitimate companies NEVER ask for passwords or financial data via email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861121" y="6124504"/>
            <a:ext cx="4860156" cy="432754"/>
          </a:xfrm>
          <a:custGeom>
            <a:avLst/>
            <a:gdLst/>
            <a:ahLst/>
            <a:cxnLst/>
            <a:rect l="l" t="t" r="r" b="b"/>
            <a:pathLst>
              <a:path w="4860156" h="432754">
                <a:moveTo>
                  <a:pt x="33287" y="0"/>
                </a:moveTo>
                <a:lnTo>
                  <a:pt x="4826868" y="0"/>
                </a:lnTo>
                <a:cubicBezTo>
                  <a:pt x="4845252" y="0"/>
                  <a:pt x="4860156" y="14903"/>
                  <a:pt x="4860156" y="33287"/>
                </a:cubicBezTo>
                <a:lnTo>
                  <a:pt x="4860156" y="399466"/>
                </a:lnTo>
                <a:cubicBezTo>
                  <a:pt x="4860156" y="417850"/>
                  <a:pt x="4845252" y="432754"/>
                  <a:pt x="4826868" y="432754"/>
                </a:cubicBezTo>
                <a:lnTo>
                  <a:pt x="33287" y="432754"/>
                </a:lnTo>
                <a:cubicBezTo>
                  <a:pt x="14903" y="432754"/>
                  <a:pt x="0" y="417850"/>
                  <a:pt x="0" y="399466"/>
                </a:cubicBezTo>
                <a:lnTo>
                  <a:pt x="0" y="33287"/>
                </a:lnTo>
                <a:cubicBezTo>
                  <a:pt x="0" y="14903"/>
                  <a:pt x="14903" y="0"/>
                  <a:pt x="3328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67" name="Text 65"/>
          <p:cNvSpPr/>
          <p:nvPr/>
        </p:nvSpPr>
        <p:spPr>
          <a:xfrm>
            <a:off x="6927698" y="619108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NEVER SHARE: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927698" y="6357421"/>
            <a:ext cx="4776934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Passwords • SSN • Credit card CVV • MFA codes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Identifying Fake Websites and Spoofed Domains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verify website legitimacy before entering sensitive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01750"/>
            <a:ext cx="5683250" cy="3683000"/>
          </a:xfrm>
          <a:custGeom>
            <a:avLst/>
            <a:gdLst/>
            <a:ahLst/>
            <a:cxnLst/>
            <a:rect l="l" t="t" r="r" b="b"/>
            <a:pathLst>
              <a:path w="5683250" h="3683000">
                <a:moveTo>
                  <a:pt x="63495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3619505"/>
                </a:lnTo>
                <a:cubicBezTo>
                  <a:pt x="5683250" y="3654572"/>
                  <a:pt x="5654822" y="3683000"/>
                  <a:pt x="5619755" y="3683000"/>
                </a:cubicBezTo>
                <a:lnTo>
                  <a:pt x="63495" y="3683000"/>
                </a:lnTo>
                <a:cubicBezTo>
                  <a:pt x="28428" y="3683000"/>
                  <a:pt x="0" y="3654572"/>
                  <a:pt x="0" y="36195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7375" y="1571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539875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URLs Carefully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9685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use subtle character substitutions and look-alike domains to deceive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286000"/>
            <a:ext cx="5365750" cy="889000"/>
          </a:xfrm>
          <a:custGeom>
            <a:avLst/>
            <a:gdLst/>
            <a:ahLst/>
            <a:cxnLst/>
            <a:rect l="l" t="t" r="r" b="b"/>
            <a:pathLst>
              <a:path w="5365750" h="889000">
                <a:moveTo>
                  <a:pt x="31746" y="0"/>
                </a:moveTo>
                <a:lnTo>
                  <a:pt x="5334004" y="0"/>
                </a:lnTo>
                <a:cubicBezTo>
                  <a:pt x="5351537" y="0"/>
                  <a:pt x="5365750" y="14213"/>
                  <a:pt x="5365750" y="31746"/>
                </a:cubicBezTo>
                <a:lnTo>
                  <a:pt x="5365750" y="857254"/>
                </a:lnTo>
                <a:cubicBezTo>
                  <a:pt x="5365750" y="874787"/>
                  <a:pt x="5351537" y="889000"/>
                  <a:pt x="533400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3812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Character Substitution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603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amaz0n.com (zero instead of 'o')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7622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paypa1.com (one instead of 'l')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921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micr0soft.com (zero instead of 'o')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3270250"/>
            <a:ext cx="5365750" cy="889000"/>
          </a:xfrm>
          <a:custGeom>
            <a:avLst/>
            <a:gdLst/>
            <a:ahLst/>
            <a:cxnLst/>
            <a:rect l="l" t="t" r="r" b="b"/>
            <a:pathLst>
              <a:path w="5365750" h="889000">
                <a:moveTo>
                  <a:pt x="31746" y="0"/>
                </a:moveTo>
                <a:lnTo>
                  <a:pt x="5334004" y="0"/>
                </a:lnTo>
                <a:cubicBezTo>
                  <a:pt x="5351537" y="0"/>
                  <a:pt x="5365750" y="14213"/>
                  <a:pt x="5365750" y="31746"/>
                </a:cubicBezTo>
                <a:lnTo>
                  <a:pt x="5365750" y="857254"/>
                </a:lnTo>
                <a:cubicBezTo>
                  <a:pt x="5365750" y="874787"/>
                  <a:pt x="5351537" y="889000"/>
                  <a:pt x="533400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3365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Added Words or Extensions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5877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paypal-security.com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746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amazon-shop.net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9052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microsoft-login.ru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7500" y="5111750"/>
            <a:ext cx="5683250" cy="1111250"/>
          </a:xfrm>
          <a:custGeom>
            <a:avLst/>
            <a:gdLst/>
            <a:ahLst/>
            <a:cxnLst/>
            <a:rect l="l" t="t" r="r" b="b"/>
            <a:pathLst>
              <a:path w="5683250" h="1111250">
                <a:moveTo>
                  <a:pt x="63497" y="0"/>
                </a:moveTo>
                <a:lnTo>
                  <a:pt x="5619753" y="0"/>
                </a:lnTo>
                <a:cubicBezTo>
                  <a:pt x="5654822" y="0"/>
                  <a:pt x="5683250" y="28428"/>
                  <a:pt x="5683250" y="63497"/>
                </a:cubicBezTo>
                <a:lnTo>
                  <a:pt x="5683250" y="1047753"/>
                </a:lnTo>
                <a:cubicBezTo>
                  <a:pt x="5683250" y="1082822"/>
                  <a:pt x="5654822" y="1111250"/>
                  <a:pt x="561975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250" y="527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7219" y="53816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48828"/>
                </a:lnTo>
                <a:cubicBezTo>
                  <a:pt x="0" y="152394"/>
                  <a:pt x="1922" y="155711"/>
                  <a:pt x="5023" y="157448"/>
                </a:cubicBezTo>
                <a:cubicBezTo>
                  <a:pt x="8124" y="159184"/>
                  <a:pt x="11937" y="159153"/>
                  <a:pt x="15007" y="157324"/>
                </a:cubicBezTo>
                <a:lnTo>
                  <a:pt x="59531" y="130628"/>
                </a:lnTo>
                <a:lnTo>
                  <a:pt x="104025" y="157324"/>
                </a:lnTo>
                <a:cubicBezTo>
                  <a:pt x="107094" y="159153"/>
                  <a:pt x="110908" y="159215"/>
                  <a:pt x="114009" y="157448"/>
                </a:cubicBezTo>
                <a:cubicBezTo>
                  <a:pt x="117109" y="155680"/>
                  <a:pt x="119062" y="152394"/>
                  <a:pt x="119062" y="148828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349875"/>
            <a:ext cx="1889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Bookmark Important Sites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250" y="5746750"/>
            <a:ext cx="5421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clicking links or typing URLs, use bookmarks for banking, email, and critical services. This ensures you always visit the legitimate site.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301750"/>
            <a:ext cx="5683250" cy="2952750"/>
          </a:xfrm>
          <a:custGeom>
            <a:avLst/>
            <a:gdLst/>
            <a:ahLst/>
            <a:cxnLst/>
            <a:rect l="l" t="t" r="r" b="b"/>
            <a:pathLst>
              <a:path w="5683250" h="2952750">
                <a:moveTo>
                  <a:pt x="63514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2889236"/>
                </a:lnTo>
                <a:cubicBezTo>
                  <a:pt x="5683250" y="2924314"/>
                  <a:pt x="5654814" y="2952750"/>
                  <a:pt x="5619736" y="2952750"/>
                </a:cubicBezTo>
                <a:lnTo>
                  <a:pt x="63514" y="2952750"/>
                </a:lnTo>
                <a:cubicBezTo>
                  <a:pt x="28436" y="2952750"/>
                  <a:pt x="0" y="2924314"/>
                  <a:pt x="0" y="2889236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0000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80969" y="15716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39688" y="29766"/>
                </a:moveTo>
                <a:lnTo>
                  <a:pt x="39688" y="49609"/>
                </a:lnTo>
                <a:lnTo>
                  <a:pt x="79375" y="49609"/>
                </a:lnTo>
                <a:lnTo>
                  <a:pt x="79375" y="29766"/>
                </a:lnTo>
                <a:cubicBezTo>
                  <a:pt x="79375" y="18821"/>
                  <a:pt x="70476" y="9922"/>
                  <a:pt x="59531" y="9922"/>
                </a:cubicBezTo>
                <a:cubicBezTo>
                  <a:pt x="48586" y="9922"/>
                  <a:pt x="39688" y="18821"/>
                  <a:pt x="39688" y="29766"/>
                </a:cubicBezTo>
                <a:close/>
                <a:moveTo>
                  <a:pt x="19844" y="49609"/>
                </a:moveTo>
                <a:lnTo>
                  <a:pt x="19844" y="29766"/>
                </a:lnTo>
                <a:cubicBezTo>
                  <a:pt x="19844" y="7844"/>
                  <a:pt x="37610" y="-9922"/>
                  <a:pt x="59531" y="-9922"/>
                </a:cubicBezTo>
                <a:cubicBezTo>
                  <a:pt x="81452" y="-9922"/>
                  <a:pt x="99219" y="7844"/>
                  <a:pt x="99219" y="29766"/>
                </a:cubicBezTo>
                <a:lnTo>
                  <a:pt x="99219" y="49609"/>
                </a:lnTo>
                <a:cubicBezTo>
                  <a:pt x="110164" y="49609"/>
                  <a:pt x="119062" y="58508"/>
                  <a:pt x="119062" y="69453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69453"/>
                </a:lnTo>
                <a:cubicBezTo>
                  <a:pt x="0" y="58508"/>
                  <a:pt x="8899" y="49609"/>
                  <a:pt x="19844" y="496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6826250" y="1539875"/>
            <a:ext cx="166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SSL Certificates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0000" y="19685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padlock icon indicates encryption, but it doesn't guarantee legitimacy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000" y="2286000"/>
            <a:ext cx="5365750" cy="1143000"/>
          </a:xfrm>
          <a:custGeom>
            <a:avLst/>
            <a:gdLst/>
            <a:ahLst/>
            <a:cxnLst/>
            <a:rect l="l" t="t" r="r" b="b"/>
            <a:pathLst>
              <a:path w="5365750" h="1143000">
                <a:moveTo>
                  <a:pt x="31753" y="0"/>
                </a:moveTo>
                <a:lnTo>
                  <a:pt x="5333997" y="0"/>
                </a:lnTo>
                <a:cubicBezTo>
                  <a:pt x="5351534" y="0"/>
                  <a:pt x="5365750" y="14216"/>
                  <a:pt x="5365750" y="31753"/>
                </a:cubicBezTo>
                <a:lnTo>
                  <a:pt x="5365750" y="1111247"/>
                </a:lnTo>
                <a:cubicBezTo>
                  <a:pt x="5365750" y="1128784"/>
                  <a:pt x="5351534" y="1143000"/>
                  <a:pt x="5333997" y="1143000"/>
                </a:cubicBezTo>
                <a:lnTo>
                  <a:pt x="31753" y="1143000"/>
                </a:lnTo>
                <a:cubicBezTo>
                  <a:pt x="14216" y="1143000"/>
                  <a:pt x="0" y="1128784"/>
                  <a:pt x="0" y="1111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1" name="Text 29"/>
          <p:cNvSpPr/>
          <p:nvPr/>
        </p:nvSpPr>
        <p:spPr>
          <a:xfrm>
            <a:off x="6445250" y="23812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What to Check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5250" y="2603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Click the padlock to view certificate details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5250" y="2794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Verify the domain name matches exactly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5250" y="2984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Look for organization validation (OV/EV)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5250" y="3175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certificate expiration date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0000" y="352425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31753" y="0"/>
                </a:moveTo>
                <a:lnTo>
                  <a:pt x="5333997" y="0"/>
                </a:lnTo>
                <a:cubicBezTo>
                  <a:pt x="5351534" y="0"/>
                  <a:pt x="5365750" y="14216"/>
                  <a:pt x="5365750" y="31753"/>
                </a:cubicBezTo>
                <a:lnTo>
                  <a:pt x="5365750" y="539747"/>
                </a:lnTo>
                <a:cubicBezTo>
                  <a:pt x="5365750" y="557284"/>
                  <a:pt x="5351534" y="571500"/>
                  <a:pt x="53339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7" name="Text 35"/>
          <p:cNvSpPr/>
          <p:nvPr/>
        </p:nvSpPr>
        <p:spPr>
          <a:xfrm>
            <a:off x="6445250" y="3619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Warning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5250" y="38417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can obtain SSL certificates for spoofed domains. A padlock alone doesn't mean a site is safe.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1250" y="4381500"/>
            <a:ext cx="5683250" cy="1841500"/>
          </a:xfrm>
          <a:custGeom>
            <a:avLst/>
            <a:gdLst/>
            <a:ahLst/>
            <a:cxnLst/>
            <a:rect l="l" t="t" r="r" b="b"/>
            <a:pathLst>
              <a:path w="5683250" h="1841500">
                <a:moveTo>
                  <a:pt x="63495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1778005"/>
                </a:lnTo>
                <a:cubicBezTo>
                  <a:pt x="5683250" y="1813072"/>
                  <a:pt x="5654822" y="1841500"/>
                  <a:pt x="5619755" y="1841500"/>
                </a:cubicBezTo>
                <a:lnTo>
                  <a:pt x="63495" y="1841500"/>
                </a:lnTo>
                <a:cubicBezTo>
                  <a:pt x="28428" y="1841500"/>
                  <a:pt x="0" y="1813072"/>
                  <a:pt x="0" y="17780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0000" y="4540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51203" y="4651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2" name="Text 40"/>
          <p:cNvSpPr/>
          <p:nvPr/>
        </p:nvSpPr>
        <p:spPr>
          <a:xfrm>
            <a:off x="6826250" y="4619625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 for Visual Clues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0000" y="50165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Poor design quality or low-resolution logos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000" y="52387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Missing or incorrect contact information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000" y="54610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Broken links or non-functional pages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50000" y="56832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Spelling errors in content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0000" y="59055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Missing privacy policy or terms of service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0675" y="6353175"/>
            <a:ext cx="11547475" cy="641350"/>
          </a:xfrm>
          <a:custGeom>
            <a:avLst/>
            <a:gdLst/>
            <a:ahLst/>
            <a:cxnLst/>
            <a:rect l="l" t="t" r="r" b="b"/>
            <a:pathLst>
              <a:path w="11547475" h="64135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577850"/>
                </a:lnTo>
                <a:cubicBezTo>
                  <a:pt x="11547475" y="612920"/>
                  <a:pt x="11519045" y="641350"/>
                  <a:pt x="11483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0537" y="648335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744538" y="6483352"/>
            <a:ext cx="844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 Hover Before You Click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4538" y="6705602"/>
            <a:ext cx="843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desktop, hover your mouse over links to see the true destination URL at the bottom of your browser. On mobile, long-press links to preview the destination before opening.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50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Social Engineering Tactics Attackers Use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1049163"/>
            <a:ext cx="1154984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psychological manipulation techniques that bypass 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869" y="1483300"/>
            <a:ext cx="5625685" cy="2062148"/>
          </a:xfrm>
          <a:custGeom>
            <a:avLst/>
            <a:gdLst/>
            <a:ahLst/>
            <a:cxnLst/>
            <a:rect l="l" t="t" r="r" b="b"/>
            <a:pathLst>
              <a:path w="5625685" h="2062148">
                <a:moveTo>
                  <a:pt x="36178" y="0"/>
                </a:moveTo>
                <a:lnTo>
                  <a:pt x="5553325" y="0"/>
                </a:lnTo>
                <a:cubicBezTo>
                  <a:pt x="5593288" y="0"/>
                  <a:pt x="5625685" y="32397"/>
                  <a:pt x="5625685" y="72361"/>
                </a:cubicBezTo>
                <a:lnTo>
                  <a:pt x="5625685" y="1989788"/>
                </a:lnTo>
                <a:cubicBezTo>
                  <a:pt x="5625685" y="2029751"/>
                  <a:pt x="5593288" y="2062148"/>
                  <a:pt x="5553325" y="2062148"/>
                </a:cubicBez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379869" y="1483300"/>
            <a:ext cx="36178" cy="2062148"/>
          </a:xfrm>
          <a:custGeom>
            <a:avLst/>
            <a:gdLst/>
            <a:ahLst/>
            <a:cxnLst/>
            <a:rect l="l" t="t" r="r" b="b"/>
            <a:pathLst>
              <a:path w="36178" h="2062148">
                <a:moveTo>
                  <a:pt x="36178" y="0"/>
                </a:moveTo>
                <a:lnTo>
                  <a:pt x="36178" y="0"/>
                </a:lnTo>
                <a:lnTo>
                  <a:pt x="36178" y="2062148"/>
                </a:ln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7" name="Shape 5"/>
          <p:cNvSpPr/>
          <p:nvPr/>
        </p:nvSpPr>
        <p:spPr>
          <a:xfrm>
            <a:off x="578849" y="1664190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72358" y="0"/>
                </a:moveTo>
                <a:lnTo>
                  <a:pt x="361779" y="0"/>
                </a:lnTo>
                <a:cubicBezTo>
                  <a:pt x="401741" y="0"/>
                  <a:pt x="434136" y="32396"/>
                  <a:pt x="434136" y="72358"/>
                </a:cubicBezTo>
                <a:lnTo>
                  <a:pt x="434136" y="361779"/>
                </a:lnTo>
                <a:cubicBezTo>
                  <a:pt x="434136" y="401741"/>
                  <a:pt x="401741" y="434136"/>
                  <a:pt x="361779" y="434136"/>
                </a:cubicBezTo>
                <a:lnTo>
                  <a:pt x="72358" y="434136"/>
                </a:lnTo>
                <a:cubicBezTo>
                  <a:pt x="32396" y="434136"/>
                  <a:pt x="0" y="401741"/>
                  <a:pt x="0" y="361779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166" y="1790813"/>
            <a:ext cx="203501" cy="180890"/>
          </a:xfrm>
          <a:custGeom>
            <a:avLst/>
            <a:gdLst/>
            <a:ahLst/>
            <a:cxnLst/>
            <a:rect l="l" t="t" r="r" b="b"/>
            <a:pathLst>
              <a:path w="203501" h="180890">
                <a:moveTo>
                  <a:pt x="-1767" y="41690"/>
                </a:moveTo>
                <a:lnTo>
                  <a:pt x="8303" y="98818"/>
                </a:lnTo>
                <a:cubicBezTo>
                  <a:pt x="13249" y="126906"/>
                  <a:pt x="35259" y="148916"/>
                  <a:pt x="63347" y="153863"/>
                </a:cubicBezTo>
                <a:lnTo>
                  <a:pt x="67834" y="154640"/>
                </a:lnTo>
                <a:cubicBezTo>
                  <a:pt x="62004" y="144536"/>
                  <a:pt x="58259" y="133195"/>
                  <a:pt x="57023" y="121253"/>
                </a:cubicBezTo>
                <a:lnTo>
                  <a:pt x="48508" y="122772"/>
                </a:lnTo>
                <a:cubicBezTo>
                  <a:pt x="45081" y="123373"/>
                  <a:pt x="41866" y="120723"/>
                  <a:pt x="42537" y="117296"/>
                </a:cubicBezTo>
                <a:cubicBezTo>
                  <a:pt x="44233" y="108569"/>
                  <a:pt x="49286" y="100832"/>
                  <a:pt x="56564" y="95780"/>
                </a:cubicBezTo>
                <a:lnTo>
                  <a:pt x="56564" y="69424"/>
                </a:lnTo>
                <a:cubicBezTo>
                  <a:pt x="56069" y="69706"/>
                  <a:pt x="55504" y="69883"/>
                  <a:pt x="54903" y="69989"/>
                </a:cubicBezTo>
                <a:lnTo>
                  <a:pt x="32645" y="73911"/>
                </a:lnTo>
                <a:cubicBezTo>
                  <a:pt x="29571" y="74441"/>
                  <a:pt x="26533" y="72356"/>
                  <a:pt x="27028" y="69282"/>
                </a:cubicBezTo>
                <a:cubicBezTo>
                  <a:pt x="28123" y="62358"/>
                  <a:pt x="33528" y="56564"/>
                  <a:pt x="40842" y="55256"/>
                </a:cubicBezTo>
                <a:cubicBezTo>
                  <a:pt x="46918" y="54196"/>
                  <a:pt x="52819" y="56493"/>
                  <a:pt x="56599" y="60838"/>
                </a:cubicBezTo>
                <a:lnTo>
                  <a:pt x="56599" y="52819"/>
                </a:lnTo>
                <a:cubicBezTo>
                  <a:pt x="56599" y="44869"/>
                  <a:pt x="59037" y="34306"/>
                  <a:pt x="68010" y="26886"/>
                </a:cubicBezTo>
                <a:cubicBezTo>
                  <a:pt x="77196" y="19290"/>
                  <a:pt x="91929" y="11376"/>
                  <a:pt x="112138" y="7737"/>
                </a:cubicBezTo>
                <a:cubicBezTo>
                  <a:pt x="101362" y="1978"/>
                  <a:pt x="81648" y="-3568"/>
                  <a:pt x="54267" y="1237"/>
                </a:cubicBezTo>
                <a:cubicBezTo>
                  <a:pt x="25897" y="6253"/>
                  <a:pt x="9045" y="18937"/>
                  <a:pt x="1237" y="28123"/>
                </a:cubicBezTo>
                <a:cubicBezTo>
                  <a:pt x="-1943" y="31832"/>
                  <a:pt x="-2579" y="36920"/>
                  <a:pt x="-1731" y="41725"/>
                </a:cubicBezTo>
                <a:close/>
                <a:moveTo>
                  <a:pt x="73487" y="49003"/>
                </a:moveTo>
                <a:lnTo>
                  <a:pt x="73487" y="110760"/>
                </a:lnTo>
                <a:cubicBezTo>
                  <a:pt x="73487" y="139271"/>
                  <a:pt x="91328" y="164780"/>
                  <a:pt x="118144" y="174495"/>
                </a:cubicBezTo>
                <a:lnTo>
                  <a:pt x="127930" y="178064"/>
                </a:lnTo>
                <a:cubicBezTo>
                  <a:pt x="132912" y="179866"/>
                  <a:pt x="138388" y="179866"/>
                  <a:pt x="143370" y="178064"/>
                </a:cubicBezTo>
                <a:lnTo>
                  <a:pt x="153191" y="174531"/>
                </a:lnTo>
                <a:cubicBezTo>
                  <a:pt x="180007" y="164780"/>
                  <a:pt x="197849" y="139307"/>
                  <a:pt x="197849" y="110760"/>
                </a:cubicBezTo>
                <a:lnTo>
                  <a:pt x="197849" y="49003"/>
                </a:lnTo>
                <a:cubicBezTo>
                  <a:pt x="197849" y="46565"/>
                  <a:pt x="197107" y="44127"/>
                  <a:pt x="195376" y="42431"/>
                </a:cubicBezTo>
                <a:cubicBezTo>
                  <a:pt x="187391" y="34482"/>
                  <a:pt x="167747" y="22647"/>
                  <a:pt x="135668" y="22647"/>
                </a:cubicBezTo>
                <a:cubicBezTo>
                  <a:pt x="103588" y="22647"/>
                  <a:pt x="83944" y="34518"/>
                  <a:pt x="75960" y="42431"/>
                </a:cubicBezTo>
                <a:cubicBezTo>
                  <a:pt x="74229" y="44163"/>
                  <a:pt x="73487" y="46565"/>
                  <a:pt x="73487" y="49003"/>
                </a:cubicBezTo>
                <a:close/>
                <a:moveTo>
                  <a:pt x="96840" y="115106"/>
                </a:moveTo>
                <a:cubicBezTo>
                  <a:pt x="96345" y="112632"/>
                  <a:pt x="99313" y="111219"/>
                  <a:pt x="101327" y="112774"/>
                </a:cubicBezTo>
                <a:cubicBezTo>
                  <a:pt x="110831" y="120052"/>
                  <a:pt x="122737" y="124397"/>
                  <a:pt x="135668" y="124397"/>
                </a:cubicBezTo>
                <a:cubicBezTo>
                  <a:pt x="148598" y="124397"/>
                  <a:pt x="160469" y="120052"/>
                  <a:pt x="170009" y="112774"/>
                </a:cubicBezTo>
                <a:cubicBezTo>
                  <a:pt x="172022" y="111219"/>
                  <a:pt x="174990" y="112632"/>
                  <a:pt x="174495" y="115106"/>
                </a:cubicBezTo>
                <a:cubicBezTo>
                  <a:pt x="170927" y="133265"/>
                  <a:pt x="154887" y="147009"/>
                  <a:pt x="135668" y="147009"/>
                </a:cubicBezTo>
                <a:cubicBezTo>
                  <a:pt x="116448" y="147009"/>
                  <a:pt x="100408" y="133301"/>
                  <a:pt x="96840" y="115106"/>
                </a:cubicBezTo>
                <a:close/>
                <a:moveTo>
                  <a:pt x="97017" y="79245"/>
                </a:moveTo>
                <a:cubicBezTo>
                  <a:pt x="99348" y="72603"/>
                  <a:pt x="105637" y="67834"/>
                  <a:pt x="113056" y="67834"/>
                </a:cubicBezTo>
                <a:cubicBezTo>
                  <a:pt x="120476" y="67834"/>
                  <a:pt x="126800" y="72603"/>
                  <a:pt x="129096" y="79245"/>
                </a:cubicBezTo>
                <a:cubicBezTo>
                  <a:pt x="130121" y="82213"/>
                  <a:pt x="127506" y="84792"/>
                  <a:pt x="124362" y="84792"/>
                </a:cubicBezTo>
                <a:lnTo>
                  <a:pt x="101751" y="84792"/>
                </a:lnTo>
                <a:cubicBezTo>
                  <a:pt x="98642" y="84792"/>
                  <a:pt x="95992" y="82178"/>
                  <a:pt x="97017" y="79245"/>
                </a:cubicBezTo>
                <a:close/>
                <a:moveTo>
                  <a:pt x="169585" y="84792"/>
                </a:moveTo>
                <a:lnTo>
                  <a:pt x="146973" y="84792"/>
                </a:lnTo>
                <a:cubicBezTo>
                  <a:pt x="143864" y="84792"/>
                  <a:pt x="141214" y="82178"/>
                  <a:pt x="142239" y="79245"/>
                </a:cubicBezTo>
                <a:cubicBezTo>
                  <a:pt x="144536" y="72603"/>
                  <a:pt x="150860" y="67834"/>
                  <a:pt x="158279" y="67834"/>
                </a:cubicBezTo>
                <a:cubicBezTo>
                  <a:pt x="165698" y="67834"/>
                  <a:pt x="172022" y="72603"/>
                  <a:pt x="174319" y="79245"/>
                </a:cubicBezTo>
                <a:cubicBezTo>
                  <a:pt x="175343" y="82213"/>
                  <a:pt x="172729" y="84792"/>
                  <a:pt x="169585" y="8479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1121519" y="1754635"/>
            <a:ext cx="91349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Pretexting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8849" y="2206861"/>
            <a:ext cx="531817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a fabricated scenario or story to gain trust and extract information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8849" y="2532463"/>
            <a:ext cx="5245816" cy="832095"/>
          </a:xfrm>
          <a:custGeom>
            <a:avLst/>
            <a:gdLst/>
            <a:ahLst/>
            <a:cxnLst/>
            <a:rect l="l" t="t" r="r" b="b"/>
            <a:pathLst>
              <a:path w="5245816" h="832095">
                <a:moveTo>
                  <a:pt x="36179" y="0"/>
                </a:moveTo>
                <a:lnTo>
                  <a:pt x="5209637" y="0"/>
                </a:lnTo>
                <a:cubicBezTo>
                  <a:pt x="5229618" y="0"/>
                  <a:pt x="5245816" y="16198"/>
                  <a:pt x="5245816" y="36179"/>
                </a:cubicBezTo>
                <a:lnTo>
                  <a:pt x="5245816" y="795915"/>
                </a:lnTo>
                <a:cubicBezTo>
                  <a:pt x="5245816" y="815897"/>
                  <a:pt x="5229618" y="832095"/>
                  <a:pt x="5209637" y="832095"/>
                </a:cubicBezTo>
                <a:lnTo>
                  <a:pt x="36179" y="832095"/>
                </a:lnTo>
                <a:cubicBezTo>
                  <a:pt x="16198" y="832095"/>
                  <a:pt x="0" y="815897"/>
                  <a:pt x="0" y="795915"/>
                </a:cubicBezTo>
                <a:lnTo>
                  <a:pt x="0" y="36179"/>
                </a:lnTo>
                <a:cubicBezTo>
                  <a:pt x="0" y="16211"/>
                  <a:pt x="16211" y="0"/>
                  <a:pt x="36179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2" name="Text 10"/>
          <p:cNvSpPr/>
          <p:nvPr/>
        </p:nvSpPr>
        <p:spPr>
          <a:xfrm>
            <a:off x="687383" y="2640997"/>
            <a:ext cx="509205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383" y="2894243"/>
            <a:ext cx="5092059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"Hi, I'm from IT support. We've detected unusual activity on your account. I need to verify your credentials to secure it."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2499" y="1483300"/>
            <a:ext cx="5625685" cy="2062148"/>
          </a:xfrm>
          <a:custGeom>
            <a:avLst/>
            <a:gdLst/>
            <a:ahLst/>
            <a:cxnLst/>
            <a:rect l="l" t="t" r="r" b="b"/>
            <a:pathLst>
              <a:path w="5625685" h="2062148">
                <a:moveTo>
                  <a:pt x="36178" y="0"/>
                </a:moveTo>
                <a:lnTo>
                  <a:pt x="5553325" y="0"/>
                </a:lnTo>
                <a:cubicBezTo>
                  <a:pt x="5593288" y="0"/>
                  <a:pt x="5625685" y="32397"/>
                  <a:pt x="5625685" y="72361"/>
                </a:cubicBezTo>
                <a:lnTo>
                  <a:pt x="5625685" y="1989788"/>
                </a:lnTo>
                <a:cubicBezTo>
                  <a:pt x="5625685" y="2029751"/>
                  <a:pt x="5593288" y="2062148"/>
                  <a:pt x="5553325" y="2062148"/>
                </a:cubicBez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02499" y="1483300"/>
            <a:ext cx="36178" cy="2062148"/>
          </a:xfrm>
          <a:custGeom>
            <a:avLst/>
            <a:gdLst/>
            <a:ahLst/>
            <a:cxnLst/>
            <a:rect l="l" t="t" r="r" b="b"/>
            <a:pathLst>
              <a:path w="36178" h="2062148">
                <a:moveTo>
                  <a:pt x="36178" y="0"/>
                </a:moveTo>
                <a:lnTo>
                  <a:pt x="36178" y="0"/>
                </a:lnTo>
                <a:lnTo>
                  <a:pt x="36178" y="2062148"/>
                </a:ln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1479" y="1664190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72358" y="0"/>
                </a:moveTo>
                <a:lnTo>
                  <a:pt x="361779" y="0"/>
                </a:lnTo>
                <a:cubicBezTo>
                  <a:pt x="401741" y="0"/>
                  <a:pt x="434136" y="32396"/>
                  <a:pt x="434136" y="72358"/>
                </a:cubicBezTo>
                <a:lnTo>
                  <a:pt x="434136" y="361779"/>
                </a:lnTo>
                <a:cubicBezTo>
                  <a:pt x="434136" y="401741"/>
                  <a:pt x="401741" y="434136"/>
                  <a:pt x="361779" y="434136"/>
                </a:cubicBezTo>
                <a:lnTo>
                  <a:pt x="72358" y="434136"/>
                </a:lnTo>
                <a:cubicBezTo>
                  <a:pt x="32396" y="434136"/>
                  <a:pt x="0" y="401741"/>
                  <a:pt x="0" y="361779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28102" y="179081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13586" y="24307"/>
                </a:moveTo>
                <a:cubicBezTo>
                  <a:pt x="116271" y="19750"/>
                  <a:pt x="121147" y="16958"/>
                  <a:pt x="126411" y="16958"/>
                </a:cubicBezTo>
                <a:lnTo>
                  <a:pt x="127188" y="16958"/>
                </a:lnTo>
                <a:cubicBezTo>
                  <a:pt x="134996" y="16958"/>
                  <a:pt x="141320" y="23283"/>
                  <a:pt x="141320" y="31091"/>
                </a:cubicBezTo>
                <a:cubicBezTo>
                  <a:pt x="141320" y="38898"/>
                  <a:pt x="134996" y="45223"/>
                  <a:pt x="127188" y="45223"/>
                </a:cubicBezTo>
                <a:lnTo>
                  <a:pt x="101291" y="45223"/>
                </a:lnTo>
                <a:lnTo>
                  <a:pt x="113586" y="24307"/>
                </a:lnTo>
                <a:close/>
                <a:moveTo>
                  <a:pt x="67304" y="24307"/>
                </a:moveTo>
                <a:lnTo>
                  <a:pt x="79599" y="45223"/>
                </a:lnTo>
                <a:lnTo>
                  <a:pt x="53702" y="45223"/>
                </a:lnTo>
                <a:cubicBezTo>
                  <a:pt x="45894" y="45223"/>
                  <a:pt x="39570" y="38898"/>
                  <a:pt x="39570" y="31091"/>
                </a:cubicBezTo>
                <a:cubicBezTo>
                  <a:pt x="39570" y="23283"/>
                  <a:pt x="45894" y="16958"/>
                  <a:pt x="53702" y="16958"/>
                </a:cubicBezTo>
                <a:lnTo>
                  <a:pt x="54479" y="16958"/>
                </a:lnTo>
                <a:cubicBezTo>
                  <a:pt x="59743" y="16958"/>
                  <a:pt x="64654" y="19750"/>
                  <a:pt x="67304" y="24307"/>
                </a:cubicBezTo>
                <a:close/>
                <a:moveTo>
                  <a:pt x="98960" y="15722"/>
                </a:moveTo>
                <a:lnTo>
                  <a:pt x="90445" y="30207"/>
                </a:lnTo>
                <a:lnTo>
                  <a:pt x="81931" y="15722"/>
                </a:lnTo>
                <a:cubicBezTo>
                  <a:pt x="76207" y="5971"/>
                  <a:pt x="65749" y="0"/>
                  <a:pt x="54479" y="0"/>
                </a:cubicBezTo>
                <a:lnTo>
                  <a:pt x="53702" y="0"/>
                </a:lnTo>
                <a:cubicBezTo>
                  <a:pt x="36531" y="0"/>
                  <a:pt x="22611" y="13920"/>
                  <a:pt x="22611" y="31091"/>
                </a:cubicBezTo>
                <a:cubicBezTo>
                  <a:pt x="22611" y="36178"/>
                  <a:pt x="23848" y="40983"/>
                  <a:pt x="26003" y="45223"/>
                </a:cubicBezTo>
                <a:lnTo>
                  <a:pt x="11306" y="45223"/>
                </a:lnTo>
                <a:cubicBezTo>
                  <a:pt x="5052" y="45223"/>
                  <a:pt x="0" y="50275"/>
                  <a:pt x="0" y="56528"/>
                </a:cubicBezTo>
                <a:lnTo>
                  <a:pt x="0" y="67834"/>
                </a:lnTo>
                <a:cubicBezTo>
                  <a:pt x="0" y="74087"/>
                  <a:pt x="5052" y="79139"/>
                  <a:pt x="11306" y="79139"/>
                </a:cubicBezTo>
                <a:lnTo>
                  <a:pt x="169585" y="79139"/>
                </a:lnTo>
                <a:cubicBezTo>
                  <a:pt x="175838" y="79139"/>
                  <a:pt x="180890" y="74087"/>
                  <a:pt x="180890" y="67834"/>
                </a:cubicBezTo>
                <a:lnTo>
                  <a:pt x="180890" y="56528"/>
                </a:lnTo>
                <a:cubicBezTo>
                  <a:pt x="180890" y="50275"/>
                  <a:pt x="175838" y="45223"/>
                  <a:pt x="169585" y="45223"/>
                </a:cubicBezTo>
                <a:lnTo>
                  <a:pt x="154887" y="45223"/>
                </a:lnTo>
                <a:cubicBezTo>
                  <a:pt x="157042" y="40983"/>
                  <a:pt x="158279" y="36178"/>
                  <a:pt x="158279" y="31091"/>
                </a:cubicBezTo>
                <a:cubicBezTo>
                  <a:pt x="158279" y="13920"/>
                  <a:pt x="144359" y="0"/>
                  <a:pt x="127188" y="0"/>
                </a:cubicBezTo>
                <a:lnTo>
                  <a:pt x="126411" y="0"/>
                </a:lnTo>
                <a:cubicBezTo>
                  <a:pt x="115141" y="0"/>
                  <a:pt x="104683" y="5971"/>
                  <a:pt x="98960" y="15687"/>
                </a:cubicBezTo>
                <a:close/>
                <a:moveTo>
                  <a:pt x="169585" y="96098"/>
                </a:moveTo>
                <a:lnTo>
                  <a:pt x="98924" y="96098"/>
                </a:lnTo>
                <a:lnTo>
                  <a:pt x="98924" y="169585"/>
                </a:lnTo>
                <a:lnTo>
                  <a:pt x="146973" y="169585"/>
                </a:lnTo>
                <a:cubicBezTo>
                  <a:pt x="159445" y="169585"/>
                  <a:pt x="169585" y="159445"/>
                  <a:pt x="169585" y="146973"/>
                </a:cubicBezTo>
                <a:lnTo>
                  <a:pt x="169585" y="96098"/>
                </a:lnTo>
                <a:close/>
                <a:moveTo>
                  <a:pt x="81966" y="96098"/>
                </a:moveTo>
                <a:lnTo>
                  <a:pt x="11306" y="96098"/>
                </a:lnTo>
                <a:lnTo>
                  <a:pt x="11306" y="146973"/>
                </a:lnTo>
                <a:cubicBezTo>
                  <a:pt x="11306" y="159445"/>
                  <a:pt x="21445" y="169585"/>
                  <a:pt x="33917" y="169585"/>
                </a:cubicBezTo>
                <a:lnTo>
                  <a:pt x="81966" y="169585"/>
                </a:lnTo>
                <a:lnTo>
                  <a:pt x="81966" y="9609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4149" y="1754635"/>
            <a:ext cx="65120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1479" y="2206861"/>
            <a:ext cx="531817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Offering something enticing to lure victims into taking action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1479" y="2532463"/>
            <a:ext cx="5245816" cy="832095"/>
          </a:xfrm>
          <a:custGeom>
            <a:avLst/>
            <a:gdLst/>
            <a:ahLst/>
            <a:cxnLst/>
            <a:rect l="l" t="t" r="r" b="b"/>
            <a:pathLst>
              <a:path w="5245816" h="832095">
                <a:moveTo>
                  <a:pt x="36179" y="0"/>
                </a:moveTo>
                <a:lnTo>
                  <a:pt x="5209637" y="0"/>
                </a:lnTo>
                <a:cubicBezTo>
                  <a:pt x="5229618" y="0"/>
                  <a:pt x="5245816" y="16198"/>
                  <a:pt x="5245816" y="36179"/>
                </a:cubicBezTo>
                <a:lnTo>
                  <a:pt x="5245816" y="795915"/>
                </a:lnTo>
                <a:cubicBezTo>
                  <a:pt x="5245816" y="815897"/>
                  <a:pt x="5229618" y="832095"/>
                  <a:pt x="5209637" y="832095"/>
                </a:cubicBezTo>
                <a:lnTo>
                  <a:pt x="36179" y="832095"/>
                </a:lnTo>
                <a:cubicBezTo>
                  <a:pt x="16198" y="832095"/>
                  <a:pt x="0" y="815897"/>
                  <a:pt x="0" y="795915"/>
                </a:cubicBezTo>
                <a:lnTo>
                  <a:pt x="0" y="36179"/>
                </a:lnTo>
                <a:cubicBezTo>
                  <a:pt x="0" y="16211"/>
                  <a:pt x="16211" y="0"/>
                  <a:pt x="36179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013" y="2640997"/>
            <a:ext cx="509205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0013" y="2894243"/>
            <a:ext cx="5092059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USB drives left in parking lots labeled "Executive Salary Info 2025" or emails offering free movie downloads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869" y="3726338"/>
            <a:ext cx="5625685" cy="2062148"/>
          </a:xfrm>
          <a:custGeom>
            <a:avLst/>
            <a:gdLst/>
            <a:ahLst/>
            <a:cxnLst/>
            <a:rect l="l" t="t" r="r" b="b"/>
            <a:pathLst>
              <a:path w="5625685" h="2062148">
                <a:moveTo>
                  <a:pt x="36178" y="0"/>
                </a:moveTo>
                <a:lnTo>
                  <a:pt x="5553325" y="0"/>
                </a:lnTo>
                <a:cubicBezTo>
                  <a:pt x="5593288" y="0"/>
                  <a:pt x="5625685" y="32397"/>
                  <a:pt x="5625685" y="72361"/>
                </a:cubicBezTo>
                <a:lnTo>
                  <a:pt x="5625685" y="1989788"/>
                </a:lnTo>
                <a:cubicBezTo>
                  <a:pt x="5625685" y="2029751"/>
                  <a:pt x="5593288" y="2062148"/>
                  <a:pt x="5553325" y="2062148"/>
                </a:cubicBez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869" y="3726338"/>
            <a:ext cx="36178" cy="2062148"/>
          </a:xfrm>
          <a:custGeom>
            <a:avLst/>
            <a:gdLst/>
            <a:ahLst/>
            <a:cxnLst/>
            <a:rect l="l" t="t" r="r" b="b"/>
            <a:pathLst>
              <a:path w="36178" h="2062148">
                <a:moveTo>
                  <a:pt x="36178" y="0"/>
                </a:moveTo>
                <a:lnTo>
                  <a:pt x="36178" y="0"/>
                </a:lnTo>
                <a:lnTo>
                  <a:pt x="36178" y="2062148"/>
                </a:ln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5" name="Shape 23"/>
          <p:cNvSpPr/>
          <p:nvPr/>
        </p:nvSpPr>
        <p:spPr>
          <a:xfrm>
            <a:off x="578849" y="390722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72358" y="0"/>
                </a:moveTo>
                <a:lnTo>
                  <a:pt x="361779" y="0"/>
                </a:lnTo>
                <a:cubicBezTo>
                  <a:pt x="401741" y="0"/>
                  <a:pt x="434136" y="32396"/>
                  <a:pt x="434136" y="72358"/>
                </a:cubicBezTo>
                <a:lnTo>
                  <a:pt x="434136" y="361779"/>
                </a:lnTo>
                <a:cubicBezTo>
                  <a:pt x="434136" y="401741"/>
                  <a:pt x="401741" y="434136"/>
                  <a:pt x="361779" y="434136"/>
                </a:cubicBezTo>
                <a:lnTo>
                  <a:pt x="72358" y="434136"/>
                </a:lnTo>
                <a:cubicBezTo>
                  <a:pt x="32396" y="434136"/>
                  <a:pt x="0" y="401741"/>
                  <a:pt x="0" y="361779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4166" y="4033852"/>
            <a:ext cx="203501" cy="180890"/>
          </a:xfrm>
          <a:custGeom>
            <a:avLst/>
            <a:gdLst/>
            <a:ahLst/>
            <a:cxnLst/>
            <a:rect l="l" t="t" r="r" b="b"/>
            <a:pathLst>
              <a:path w="203501" h="180890">
                <a:moveTo>
                  <a:pt x="95003" y="30101"/>
                </a:moveTo>
                <a:lnTo>
                  <a:pt x="53808" y="75889"/>
                </a:lnTo>
                <a:cubicBezTo>
                  <a:pt x="52183" y="77691"/>
                  <a:pt x="52253" y="80482"/>
                  <a:pt x="53984" y="82213"/>
                </a:cubicBezTo>
                <a:cubicBezTo>
                  <a:pt x="64760" y="92989"/>
                  <a:pt x="82249" y="92989"/>
                  <a:pt x="93024" y="82213"/>
                </a:cubicBezTo>
                <a:lnTo>
                  <a:pt x="104259" y="70978"/>
                </a:lnTo>
                <a:cubicBezTo>
                  <a:pt x="105743" y="69494"/>
                  <a:pt x="107616" y="68682"/>
                  <a:pt x="109523" y="68540"/>
                </a:cubicBezTo>
                <a:cubicBezTo>
                  <a:pt x="111926" y="68328"/>
                  <a:pt x="114399" y="69141"/>
                  <a:pt x="116236" y="70978"/>
                </a:cubicBezTo>
                <a:lnTo>
                  <a:pt x="178629" y="132841"/>
                </a:lnTo>
                <a:lnTo>
                  <a:pt x="203501" y="113056"/>
                </a:lnTo>
                <a:lnTo>
                  <a:pt x="203501" y="11306"/>
                </a:lnTo>
                <a:lnTo>
                  <a:pt x="163932" y="33917"/>
                </a:lnTo>
                <a:lnTo>
                  <a:pt x="155523" y="28299"/>
                </a:lnTo>
                <a:cubicBezTo>
                  <a:pt x="149941" y="24590"/>
                  <a:pt x="143405" y="22611"/>
                  <a:pt x="136692" y="22611"/>
                </a:cubicBezTo>
                <a:lnTo>
                  <a:pt x="111820" y="22611"/>
                </a:lnTo>
                <a:cubicBezTo>
                  <a:pt x="111431" y="22611"/>
                  <a:pt x="111007" y="22611"/>
                  <a:pt x="110619" y="22647"/>
                </a:cubicBezTo>
                <a:cubicBezTo>
                  <a:pt x="104648" y="22965"/>
                  <a:pt x="99030" y="25650"/>
                  <a:pt x="95003" y="30101"/>
                </a:cubicBezTo>
                <a:close/>
                <a:moveTo>
                  <a:pt x="41195" y="64548"/>
                </a:moveTo>
                <a:lnTo>
                  <a:pt x="78927" y="22611"/>
                </a:lnTo>
                <a:lnTo>
                  <a:pt x="64937" y="22611"/>
                </a:lnTo>
                <a:cubicBezTo>
                  <a:pt x="55928" y="22611"/>
                  <a:pt x="47307" y="26180"/>
                  <a:pt x="40948" y="32539"/>
                </a:cubicBezTo>
                <a:lnTo>
                  <a:pt x="39570" y="33917"/>
                </a:lnTo>
                <a:lnTo>
                  <a:pt x="0" y="11306"/>
                </a:lnTo>
                <a:lnTo>
                  <a:pt x="0" y="113056"/>
                </a:lnTo>
                <a:lnTo>
                  <a:pt x="55256" y="159092"/>
                </a:lnTo>
                <a:cubicBezTo>
                  <a:pt x="63382" y="165875"/>
                  <a:pt x="73628" y="169585"/>
                  <a:pt x="84192" y="169585"/>
                </a:cubicBezTo>
                <a:lnTo>
                  <a:pt x="89739" y="169585"/>
                </a:lnTo>
                <a:lnTo>
                  <a:pt x="87265" y="167111"/>
                </a:lnTo>
                <a:cubicBezTo>
                  <a:pt x="83944" y="163790"/>
                  <a:pt x="83944" y="158420"/>
                  <a:pt x="87265" y="155135"/>
                </a:cubicBezTo>
                <a:cubicBezTo>
                  <a:pt x="90586" y="151849"/>
                  <a:pt x="95957" y="151814"/>
                  <a:pt x="99242" y="155135"/>
                </a:cubicBezTo>
                <a:lnTo>
                  <a:pt x="113728" y="169620"/>
                </a:lnTo>
                <a:lnTo>
                  <a:pt x="116907" y="169620"/>
                </a:lnTo>
                <a:cubicBezTo>
                  <a:pt x="123655" y="169620"/>
                  <a:pt x="130262" y="168101"/>
                  <a:pt x="136268" y="165274"/>
                </a:cubicBezTo>
                <a:lnTo>
                  <a:pt x="126835" y="155806"/>
                </a:lnTo>
                <a:cubicBezTo>
                  <a:pt x="123514" y="152485"/>
                  <a:pt x="123514" y="147115"/>
                  <a:pt x="126835" y="143829"/>
                </a:cubicBezTo>
                <a:cubicBezTo>
                  <a:pt x="130156" y="140543"/>
                  <a:pt x="135526" y="140508"/>
                  <a:pt x="138812" y="143829"/>
                </a:cubicBezTo>
                <a:lnTo>
                  <a:pt x="150118" y="155135"/>
                </a:lnTo>
                <a:lnTo>
                  <a:pt x="156300" y="148952"/>
                </a:lnTo>
                <a:cubicBezTo>
                  <a:pt x="159445" y="145807"/>
                  <a:pt x="160363" y="141250"/>
                  <a:pt x="158986" y="137258"/>
                </a:cubicBezTo>
                <a:lnTo>
                  <a:pt x="110265" y="88926"/>
                </a:lnTo>
                <a:lnTo>
                  <a:pt x="105001" y="94190"/>
                </a:lnTo>
                <a:cubicBezTo>
                  <a:pt x="87583" y="111608"/>
                  <a:pt x="59390" y="111608"/>
                  <a:pt x="41972" y="94190"/>
                </a:cubicBezTo>
                <a:cubicBezTo>
                  <a:pt x="33846" y="86064"/>
                  <a:pt x="33528" y="73027"/>
                  <a:pt x="41195" y="64513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7" name="Text 25"/>
          <p:cNvSpPr/>
          <p:nvPr/>
        </p:nvSpPr>
        <p:spPr>
          <a:xfrm>
            <a:off x="1121519" y="3997674"/>
            <a:ext cx="114865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Quid Pro Quo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8849" y="4449899"/>
            <a:ext cx="531817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Promising a service or benefit in exchange for information or access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8849" y="4775501"/>
            <a:ext cx="5245816" cy="832095"/>
          </a:xfrm>
          <a:custGeom>
            <a:avLst/>
            <a:gdLst/>
            <a:ahLst/>
            <a:cxnLst/>
            <a:rect l="l" t="t" r="r" b="b"/>
            <a:pathLst>
              <a:path w="5245816" h="832095">
                <a:moveTo>
                  <a:pt x="36179" y="0"/>
                </a:moveTo>
                <a:lnTo>
                  <a:pt x="5209637" y="0"/>
                </a:lnTo>
                <a:cubicBezTo>
                  <a:pt x="5229618" y="0"/>
                  <a:pt x="5245816" y="16198"/>
                  <a:pt x="5245816" y="36179"/>
                </a:cubicBezTo>
                <a:lnTo>
                  <a:pt x="5245816" y="795915"/>
                </a:lnTo>
                <a:cubicBezTo>
                  <a:pt x="5245816" y="815897"/>
                  <a:pt x="5229618" y="832095"/>
                  <a:pt x="5209637" y="832095"/>
                </a:cubicBezTo>
                <a:lnTo>
                  <a:pt x="36179" y="832095"/>
                </a:lnTo>
                <a:cubicBezTo>
                  <a:pt x="16198" y="832095"/>
                  <a:pt x="0" y="815897"/>
                  <a:pt x="0" y="795915"/>
                </a:cubicBezTo>
                <a:lnTo>
                  <a:pt x="0" y="36179"/>
                </a:lnTo>
                <a:cubicBezTo>
                  <a:pt x="0" y="16211"/>
                  <a:pt x="16211" y="0"/>
                  <a:pt x="36179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0" name="Text 28"/>
          <p:cNvSpPr/>
          <p:nvPr/>
        </p:nvSpPr>
        <p:spPr>
          <a:xfrm>
            <a:off x="687383" y="4884036"/>
            <a:ext cx="509205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7383" y="5137282"/>
            <a:ext cx="5092059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can fix your computer issue right now. I just need your login credentials to access the system remotely."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2499" y="3726338"/>
            <a:ext cx="5625685" cy="2062148"/>
          </a:xfrm>
          <a:custGeom>
            <a:avLst/>
            <a:gdLst/>
            <a:ahLst/>
            <a:cxnLst/>
            <a:rect l="l" t="t" r="r" b="b"/>
            <a:pathLst>
              <a:path w="5625685" h="2062148">
                <a:moveTo>
                  <a:pt x="36178" y="0"/>
                </a:moveTo>
                <a:lnTo>
                  <a:pt x="5553325" y="0"/>
                </a:lnTo>
                <a:cubicBezTo>
                  <a:pt x="5593288" y="0"/>
                  <a:pt x="5625685" y="32397"/>
                  <a:pt x="5625685" y="72361"/>
                </a:cubicBezTo>
                <a:lnTo>
                  <a:pt x="5625685" y="1989788"/>
                </a:lnTo>
                <a:cubicBezTo>
                  <a:pt x="5625685" y="2029751"/>
                  <a:pt x="5593288" y="2062148"/>
                  <a:pt x="5553325" y="2062148"/>
                </a:cubicBez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3" name="Shape 31"/>
          <p:cNvSpPr/>
          <p:nvPr/>
        </p:nvSpPr>
        <p:spPr>
          <a:xfrm>
            <a:off x="6202499" y="3726338"/>
            <a:ext cx="36178" cy="2062148"/>
          </a:xfrm>
          <a:custGeom>
            <a:avLst/>
            <a:gdLst/>
            <a:ahLst/>
            <a:cxnLst/>
            <a:rect l="l" t="t" r="r" b="b"/>
            <a:pathLst>
              <a:path w="36178" h="2062148">
                <a:moveTo>
                  <a:pt x="36178" y="0"/>
                </a:moveTo>
                <a:lnTo>
                  <a:pt x="36178" y="0"/>
                </a:lnTo>
                <a:lnTo>
                  <a:pt x="36178" y="2062148"/>
                </a:lnTo>
                <a:lnTo>
                  <a:pt x="36178" y="2062148"/>
                </a:lnTo>
                <a:cubicBezTo>
                  <a:pt x="16197" y="2062148"/>
                  <a:pt x="0" y="2045951"/>
                  <a:pt x="0" y="202597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1479" y="390722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72358" y="0"/>
                </a:moveTo>
                <a:lnTo>
                  <a:pt x="361779" y="0"/>
                </a:lnTo>
                <a:cubicBezTo>
                  <a:pt x="401741" y="0"/>
                  <a:pt x="434136" y="32396"/>
                  <a:pt x="434136" y="72358"/>
                </a:cubicBezTo>
                <a:lnTo>
                  <a:pt x="434136" y="361779"/>
                </a:lnTo>
                <a:cubicBezTo>
                  <a:pt x="434136" y="401741"/>
                  <a:pt x="401741" y="434136"/>
                  <a:pt x="361779" y="434136"/>
                </a:cubicBezTo>
                <a:lnTo>
                  <a:pt x="72358" y="434136"/>
                </a:lnTo>
                <a:cubicBezTo>
                  <a:pt x="32396" y="434136"/>
                  <a:pt x="0" y="401741"/>
                  <a:pt x="0" y="361779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50713" y="4033852"/>
            <a:ext cx="135668" cy="180890"/>
          </a:xfrm>
          <a:custGeom>
            <a:avLst/>
            <a:gdLst/>
            <a:ahLst/>
            <a:cxnLst/>
            <a:rect l="l" t="t" r="r" b="b"/>
            <a:pathLst>
              <a:path w="135668" h="180890">
                <a:moveTo>
                  <a:pt x="67834" y="28264"/>
                </a:moveTo>
                <a:cubicBezTo>
                  <a:pt x="78753" y="28264"/>
                  <a:pt x="87619" y="19399"/>
                  <a:pt x="87619" y="8479"/>
                </a:cubicBezTo>
                <a:cubicBezTo>
                  <a:pt x="87619" y="-2440"/>
                  <a:pt x="78753" y="-11306"/>
                  <a:pt x="67834" y="-11306"/>
                </a:cubicBezTo>
                <a:cubicBezTo>
                  <a:pt x="56914" y="-11306"/>
                  <a:pt x="48049" y="-2440"/>
                  <a:pt x="48049" y="8479"/>
                </a:cubicBezTo>
                <a:cubicBezTo>
                  <a:pt x="48049" y="19399"/>
                  <a:pt x="56914" y="28264"/>
                  <a:pt x="67834" y="28264"/>
                </a:cubicBezTo>
                <a:close/>
                <a:moveTo>
                  <a:pt x="37238" y="80517"/>
                </a:moveTo>
                <a:lnTo>
                  <a:pt x="45223" y="72533"/>
                </a:lnTo>
                <a:lnTo>
                  <a:pt x="45223" y="97017"/>
                </a:lnTo>
                <a:cubicBezTo>
                  <a:pt x="45223" y="106909"/>
                  <a:pt x="49533" y="116342"/>
                  <a:pt x="57058" y="122772"/>
                </a:cubicBezTo>
                <a:lnTo>
                  <a:pt x="82284" y="144394"/>
                </a:lnTo>
                <a:cubicBezTo>
                  <a:pt x="84368" y="146196"/>
                  <a:pt x="85746" y="148669"/>
                  <a:pt x="86135" y="151390"/>
                </a:cubicBezTo>
                <a:lnTo>
                  <a:pt x="90586" y="182515"/>
                </a:lnTo>
                <a:cubicBezTo>
                  <a:pt x="91470" y="188698"/>
                  <a:pt x="97193" y="193008"/>
                  <a:pt x="103376" y="192125"/>
                </a:cubicBezTo>
                <a:cubicBezTo>
                  <a:pt x="109559" y="191242"/>
                  <a:pt x="113869" y="185518"/>
                  <a:pt x="112986" y="179336"/>
                </a:cubicBezTo>
                <a:lnTo>
                  <a:pt x="108534" y="148210"/>
                </a:lnTo>
                <a:cubicBezTo>
                  <a:pt x="107368" y="140049"/>
                  <a:pt x="103270" y="132629"/>
                  <a:pt x="97017" y="127259"/>
                </a:cubicBezTo>
                <a:lnTo>
                  <a:pt x="84828" y="116801"/>
                </a:lnTo>
                <a:lnTo>
                  <a:pt x="84828" y="76101"/>
                </a:lnTo>
                <a:lnTo>
                  <a:pt x="86170" y="77762"/>
                </a:lnTo>
                <a:cubicBezTo>
                  <a:pt x="92600" y="85817"/>
                  <a:pt x="102351" y="90480"/>
                  <a:pt x="112668" y="90480"/>
                </a:cubicBezTo>
                <a:lnTo>
                  <a:pt x="124397" y="90480"/>
                </a:lnTo>
                <a:cubicBezTo>
                  <a:pt x="130651" y="90480"/>
                  <a:pt x="135703" y="85428"/>
                  <a:pt x="135703" y="79175"/>
                </a:cubicBezTo>
                <a:cubicBezTo>
                  <a:pt x="135703" y="72921"/>
                  <a:pt x="130651" y="67869"/>
                  <a:pt x="124397" y="67869"/>
                </a:cubicBezTo>
                <a:lnTo>
                  <a:pt x="112668" y="67869"/>
                </a:lnTo>
                <a:cubicBezTo>
                  <a:pt x="109241" y="67869"/>
                  <a:pt x="105990" y="66315"/>
                  <a:pt x="103835" y="63630"/>
                </a:cubicBezTo>
                <a:lnTo>
                  <a:pt x="97511" y="55716"/>
                </a:lnTo>
                <a:cubicBezTo>
                  <a:pt x="89385" y="45541"/>
                  <a:pt x="77055" y="39605"/>
                  <a:pt x="64018" y="39605"/>
                </a:cubicBezTo>
                <a:cubicBezTo>
                  <a:pt x="52642" y="39605"/>
                  <a:pt x="41725" y="44127"/>
                  <a:pt x="33705" y="52183"/>
                </a:cubicBezTo>
                <a:lnTo>
                  <a:pt x="21233" y="64513"/>
                </a:lnTo>
                <a:cubicBezTo>
                  <a:pt x="14874" y="70872"/>
                  <a:pt x="11306" y="79493"/>
                  <a:pt x="11306" y="88502"/>
                </a:cubicBezTo>
                <a:lnTo>
                  <a:pt x="11306" y="101751"/>
                </a:lnTo>
                <a:cubicBezTo>
                  <a:pt x="11306" y="108004"/>
                  <a:pt x="16358" y="113056"/>
                  <a:pt x="22611" y="113056"/>
                </a:cubicBezTo>
                <a:cubicBezTo>
                  <a:pt x="28865" y="113056"/>
                  <a:pt x="33917" y="108004"/>
                  <a:pt x="33917" y="101751"/>
                </a:cubicBezTo>
                <a:lnTo>
                  <a:pt x="33917" y="88502"/>
                </a:lnTo>
                <a:cubicBezTo>
                  <a:pt x="33917" y="85499"/>
                  <a:pt x="35118" y="82637"/>
                  <a:pt x="37238" y="80517"/>
                </a:cubicBezTo>
                <a:close/>
                <a:moveTo>
                  <a:pt x="41619" y="143900"/>
                </a:moveTo>
                <a:cubicBezTo>
                  <a:pt x="41089" y="145737"/>
                  <a:pt x="40100" y="147433"/>
                  <a:pt x="38757" y="148775"/>
                </a:cubicBezTo>
                <a:lnTo>
                  <a:pt x="14627" y="172906"/>
                </a:lnTo>
                <a:cubicBezTo>
                  <a:pt x="10210" y="177322"/>
                  <a:pt x="10210" y="184494"/>
                  <a:pt x="14627" y="188910"/>
                </a:cubicBezTo>
                <a:cubicBezTo>
                  <a:pt x="19043" y="193326"/>
                  <a:pt x="26215" y="193326"/>
                  <a:pt x="30631" y="188910"/>
                </a:cubicBezTo>
                <a:lnTo>
                  <a:pt x="54762" y="164780"/>
                </a:lnTo>
                <a:cubicBezTo>
                  <a:pt x="58825" y="160717"/>
                  <a:pt x="61792" y="155665"/>
                  <a:pt x="63382" y="150118"/>
                </a:cubicBezTo>
                <a:lnTo>
                  <a:pt x="64159" y="147433"/>
                </a:lnTo>
                <a:lnTo>
                  <a:pt x="47908" y="133513"/>
                </a:lnTo>
                <a:cubicBezTo>
                  <a:pt x="47024" y="132735"/>
                  <a:pt x="46141" y="131958"/>
                  <a:pt x="45293" y="131110"/>
                </a:cubicBezTo>
                <a:lnTo>
                  <a:pt x="41619" y="14390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6944149" y="3997674"/>
            <a:ext cx="88636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Tailgating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1479" y="4449899"/>
            <a:ext cx="531817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Following authorized personnel into secure areas without proper credentials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1479" y="4775501"/>
            <a:ext cx="5245816" cy="832095"/>
          </a:xfrm>
          <a:custGeom>
            <a:avLst/>
            <a:gdLst/>
            <a:ahLst/>
            <a:cxnLst/>
            <a:rect l="l" t="t" r="r" b="b"/>
            <a:pathLst>
              <a:path w="5245816" h="832095">
                <a:moveTo>
                  <a:pt x="36179" y="0"/>
                </a:moveTo>
                <a:lnTo>
                  <a:pt x="5209637" y="0"/>
                </a:lnTo>
                <a:cubicBezTo>
                  <a:pt x="5229618" y="0"/>
                  <a:pt x="5245816" y="16198"/>
                  <a:pt x="5245816" y="36179"/>
                </a:cubicBezTo>
                <a:lnTo>
                  <a:pt x="5245816" y="795915"/>
                </a:lnTo>
                <a:cubicBezTo>
                  <a:pt x="5245816" y="815897"/>
                  <a:pt x="5229618" y="832095"/>
                  <a:pt x="5209637" y="832095"/>
                </a:cubicBezTo>
                <a:lnTo>
                  <a:pt x="36179" y="832095"/>
                </a:lnTo>
                <a:cubicBezTo>
                  <a:pt x="16198" y="832095"/>
                  <a:pt x="0" y="815897"/>
                  <a:pt x="0" y="795915"/>
                </a:cubicBezTo>
                <a:lnTo>
                  <a:pt x="0" y="36179"/>
                </a:lnTo>
                <a:cubicBezTo>
                  <a:pt x="0" y="16211"/>
                  <a:pt x="16211" y="0"/>
                  <a:pt x="36179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9" name="Text 37"/>
          <p:cNvSpPr/>
          <p:nvPr/>
        </p:nvSpPr>
        <p:spPr>
          <a:xfrm>
            <a:off x="6510013" y="4884036"/>
            <a:ext cx="509205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10013" y="5137282"/>
            <a:ext cx="5092059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 with coffee and boxes asks you to hold the secure door: "I forgot my badge, but I'm running late for a meeting!"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398" y="5936817"/>
            <a:ext cx="5651010" cy="911687"/>
          </a:xfrm>
          <a:custGeom>
            <a:avLst/>
            <a:gdLst/>
            <a:ahLst/>
            <a:cxnLst/>
            <a:rect l="l" t="t" r="r" b="b"/>
            <a:pathLst>
              <a:path w="5651010" h="911687">
                <a:moveTo>
                  <a:pt x="72361" y="0"/>
                </a:moveTo>
                <a:lnTo>
                  <a:pt x="5578650" y="0"/>
                </a:lnTo>
                <a:cubicBezTo>
                  <a:pt x="5618613" y="0"/>
                  <a:pt x="5651010" y="32397"/>
                  <a:pt x="5651010" y="72361"/>
                </a:cubicBezTo>
                <a:lnTo>
                  <a:pt x="5651010" y="839326"/>
                </a:lnTo>
                <a:cubicBezTo>
                  <a:pt x="5651010" y="879290"/>
                  <a:pt x="5618613" y="911687"/>
                  <a:pt x="5578650" y="911687"/>
                </a:cubicBezTo>
                <a:lnTo>
                  <a:pt x="72361" y="911687"/>
                </a:lnTo>
                <a:cubicBezTo>
                  <a:pt x="32424" y="911687"/>
                  <a:pt x="0" y="879263"/>
                  <a:pt x="0" y="839326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945" y="6085149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60415" y="-5653"/>
                </a:moveTo>
                <a:cubicBezTo>
                  <a:pt x="47554" y="-5653"/>
                  <a:pt x="39994" y="14945"/>
                  <a:pt x="36284" y="33917"/>
                </a:cubicBezTo>
                <a:lnTo>
                  <a:pt x="25438" y="33917"/>
                </a:lnTo>
                <a:cubicBezTo>
                  <a:pt x="20739" y="33917"/>
                  <a:pt x="16958" y="37697"/>
                  <a:pt x="16958" y="42396"/>
                </a:cubicBezTo>
                <a:cubicBezTo>
                  <a:pt x="16958" y="47095"/>
                  <a:pt x="20739" y="50875"/>
                  <a:pt x="25438" y="50875"/>
                </a:cubicBezTo>
                <a:lnTo>
                  <a:pt x="33917" y="50875"/>
                </a:lnTo>
                <a:lnTo>
                  <a:pt x="33917" y="62181"/>
                </a:lnTo>
                <a:cubicBezTo>
                  <a:pt x="33917" y="68187"/>
                  <a:pt x="35083" y="73911"/>
                  <a:pt x="37203" y="79139"/>
                </a:cubicBezTo>
                <a:lnTo>
                  <a:pt x="33917" y="79139"/>
                </a:lnTo>
                <a:lnTo>
                  <a:pt x="33917" y="79139"/>
                </a:lnTo>
                <a:lnTo>
                  <a:pt x="26674" y="79139"/>
                </a:lnTo>
                <a:cubicBezTo>
                  <a:pt x="21304" y="79139"/>
                  <a:pt x="16958" y="83485"/>
                  <a:pt x="16958" y="88855"/>
                </a:cubicBezTo>
                <a:cubicBezTo>
                  <a:pt x="16958" y="89915"/>
                  <a:pt x="17135" y="90940"/>
                  <a:pt x="17453" y="91929"/>
                </a:cubicBezTo>
                <a:lnTo>
                  <a:pt x="27663" y="122525"/>
                </a:lnTo>
                <a:cubicBezTo>
                  <a:pt x="14203" y="134113"/>
                  <a:pt x="5653" y="151248"/>
                  <a:pt x="5653" y="170397"/>
                </a:cubicBezTo>
                <a:cubicBezTo>
                  <a:pt x="5653" y="176191"/>
                  <a:pt x="10352" y="180890"/>
                  <a:pt x="16146" y="180890"/>
                </a:cubicBezTo>
                <a:lnTo>
                  <a:pt x="142133" y="180890"/>
                </a:lnTo>
                <a:cubicBezTo>
                  <a:pt x="147927" y="180890"/>
                  <a:pt x="152626" y="176191"/>
                  <a:pt x="152626" y="170397"/>
                </a:cubicBezTo>
                <a:cubicBezTo>
                  <a:pt x="152626" y="151248"/>
                  <a:pt x="144076" y="134113"/>
                  <a:pt x="130615" y="122560"/>
                </a:cubicBezTo>
                <a:lnTo>
                  <a:pt x="140826" y="91964"/>
                </a:lnTo>
                <a:cubicBezTo>
                  <a:pt x="141144" y="90975"/>
                  <a:pt x="141320" y="89950"/>
                  <a:pt x="141320" y="88891"/>
                </a:cubicBezTo>
                <a:cubicBezTo>
                  <a:pt x="141320" y="83520"/>
                  <a:pt x="136975" y="79175"/>
                  <a:pt x="131605" y="79175"/>
                </a:cubicBezTo>
                <a:lnTo>
                  <a:pt x="124362" y="79175"/>
                </a:lnTo>
                <a:lnTo>
                  <a:pt x="124362" y="79175"/>
                </a:lnTo>
                <a:lnTo>
                  <a:pt x="121076" y="79175"/>
                </a:lnTo>
                <a:cubicBezTo>
                  <a:pt x="123196" y="73946"/>
                  <a:pt x="124362" y="68222"/>
                  <a:pt x="124362" y="62216"/>
                </a:cubicBezTo>
                <a:lnTo>
                  <a:pt x="124362" y="50911"/>
                </a:lnTo>
                <a:lnTo>
                  <a:pt x="132841" y="50911"/>
                </a:lnTo>
                <a:cubicBezTo>
                  <a:pt x="137540" y="50911"/>
                  <a:pt x="141320" y="47130"/>
                  <a:pt x="141320" y="42431"/>
                </a:cubicBezTo>
                <a:cubicBezTo>
                  <a:pt x="141320" y="37733"/>
                  <a:pt x="137540" y="33952"/>
                  <a:pt x="132841" y="33952"/>
                </a:cubicBezTo>
                <a:lnTo>
                  <a:pt x="121995" y="33952"/>
                </a:lnTo>
                <a:cubicBezTo>
                  <a:pt x="118321" y="14980"/>
                  <a:pt x="110725" y="-5617"/>
                  <a:pt x="97864" y="-5617"/>
                </a:cubicBezTo>
                <a:cubicBezTo>
                  <a:pt x="94473" y="-5617"/>
                  <a:pt x="91152" y="-4240"/>
                  <a:pt x="88149" y="-2720"/>
                </a:cubicBezTo>
                <a:cubicBezTo>
                  <a:pt x="85252" y="-1272"/>
                  <a:pt x="81648" y="35"/>
                  <a:pt x="79139" y="35"/>
                </a:cubicBezTo>
                <a:cubicBezTo>
                  <a:pt x="76631" y="35"/>
                  <a:pt x="73027" y="-1272"/>
                  <a:pt x="70130" y="-2720"/>
                </a:cubicBezTo>
                <a:cubicBezTo>
                  <a:pt x="67127" y="-4275"/>
                  <a:pt x="63806" y="-5653"/>
                  <a:pt x="60415" y="-5653"/>
                </a:cubicBezTo>
                <a:close/>
                <a:moveTo>
                  <a:pt x="93519" y="165486"/>
                </a:moveTo>
                <a:lnTo>
                  <a:pt x="84757" y="140437"/>
                </a:lnTo>
                <a:lnTo>
                  <a:pt x="94614" y="128955"/>
                </a:lnTo>
                <a:cubicBezTo>
                  <a:pt x="95568" y="127824"/>
                  <a:pt x="96098" y="126411"/>
                  <a:pt x="96098" y="124927"/>
                </a:cubicBezTo>
                <a:cubicBezTo>
                  <a:pt x="96098" y="121500"/>
                  <a:pt x="93342" y="118745"/>
                  <a:pt x="89915" y="118745"/>
                </a:cubicBezTo>
                <a:lnTo>
                  <a:pt x="68364" y="118745"/>
                </a:lnTo>
                <a:cubicBezTo>
                  <a:pt x="64937" y="118745"/>
                  <a:pt x="62181" y="121500"/>
                  <a:pt x="62181" y="124927"/>
                </a:cubicBezTo>
                <a:cubicBezTo>
                  <a:pt x="62181" y="126411"/>
                  <a:pt x="62711" y="127824"/>
                  <a:pt x="63665" y="128955"/>
                </a:cubicBezTo>
                <a:lnTo>
                  <a:pt x="73522" y="140437"/>
                </a:lnTo>
                <a:lnTo>
                  <a:pt x="64760" y="165486"/>
                </a:lnTo>
                <a:lnTo>
                  <a:pt x="44622" y="101751"/>
                </a:lnTo>
                <a:lnTo>
                  <a:pt x="57235" y="101751"/>
                </a:lnTo>
                <a:cubicBezTo>
                  <a:pt x="63736" y="105354"/>
                  <a:pt x="71190" y="107404"/>
                  <a:pt x="79139" y="107404"/>
                </a:cubicBezTo>
                <a:cubicBezTo>
                  <a:pt x="87089" y="107404"/>
                  <a:pt x="94543" y="105354"/>
                  <a:pt x="101044" y="101751"/>
                </a:cubicBezTo>
                <a:lnTo>
                  <a:pt x="113657" y="101751"/>
                </a:lnTo>
                <a:lnTo>
                  <a:pt x="93519" y="165486"/>
                </a:lnTo>
                <a:close/>
                <a:moveTo>
                  <a:pt x="79139" y="90445"/>
                </a:moveTo>
                <a:cubicBezTo>
                  <a:pt x="66880" y="90445"/>
                  <a:pt x="56458" y="82637"/>
                  <a:pt x="52536" y="71720"/>
                </a:cubicBezTo>
                <a:cubicBezTo>
                  <a:pt x="54550" y="72851"/>
                  <a:pt x="56881" y="73487"/>
                  <a:pt x="59355" y="73487"/>
                </a:cubicBezTo>
                <a:lnTo>
                  <a:pt x="63736" y="73487"/>
                </a:lnTo>
                <a:cubicBezTo>
                  <a:pt x="69565" y="73487"/>
                  <a:pt x="74723" y="69742"/>
                  <a:pt x="76560" y="64230"/>
                </a:cubicBezTo>
                <a:cubicBezTo>
                  <a:pt x="77373" y="61757"/>
                  <a:pt x="80871" y="61757"/>
                  <a:pt x="81683" y="64230"/>
                </a:cubicBezTo>
                <a:cubicBezTo>
                  <a:pt x="83520" y="69742"/>
                  <a:pt x="88714" y="73487"/>
                  <a:pt x="94508" y="73487"/>
                </a:cubicBezTo>
                <a:lnTo>
                  <a:pt x="98889" y="73487"/>
                </a:lnTo>
                <a:cubicBezTo>
                  <a:pt x="101362" y="73487"/>
                  <a:pt x="103694" y="72851"/>
                  <a:pt x="105708" y="71720"/>
                </a:cubicBezTo>
                <a:cubicBezTo>
                  <a:pt x="101786" y="82637"/>
                  <a:pt x="91364" y="90445"/>
                  <a:pt x="79104" y="90445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3" name="Text 41"/>
          <p:cNvSpPr/>
          <p:nvPr/>
        </p:nvSpPr>
        <p:spPr>
          <a:xfrm>
            <a:off x="768331" y="6085149"/>
            <a:ext cx="517346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Authority Impersonation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8331" y="6338396"/>
            <a:ext cx="5164415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pose as executives, IT staff, or government officials to create pressure and compliance. Always verify identity through known channels.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9939" y="5936817"/>
            <a:ext cx="5651010" cy="911687"/>
          </a:xfrm>
          <a:custGeom>
            <a:avLst/>
            <a:gdLst/>
            <a:ahLst/>
            <a:cxnLst/>
            <a:rect l="l" t="t" r="r" b="b"/>
            <a:pathLst>
              <a:path w="5651010" h="911687">
                <a:moveTo>
                  <a:pt x="72361" y="0"/>
                </a:moveTo>
                <a:lnTo>
                  <a:pt x="5578650" y="0"/>
                </a:lnTo>
                <a:cubicBezTo>
                  <a:pt x="5618613" y="0"/>
                  <a:pt x="5651010" y="32397"/>
                  <a:pt x="5651010" y="72361"/>
                </a:cubicBezTo>
                <a:lnTo>
                  <a:pt x="5651010" y="839326"/>
                </a:lnTo>
                <a:cubicBezTo>
                  <a:pt x="5651010" y="879290"/>
                  <a:pt x="5618613" y="911687"/>
                  <a:pt x="5578650" y="911687"/>
                </a:cubicBezTo>
                <a:lnTo>
                  <a:pt x="72361" y="911687"/>
                </a:lnTo>
                <a:cubicBezTo>
                  <a:pt x="32424" y="911687"/>
                  <a:pt x="0" y="879263"/>
                  <a:pt x="0" y="839326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3747" y="6085149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0"/>
                </a:moveTo>
                <a:cubicBezTo>
                  <a:pt x="140363" y="0"/>
                  <a:pt x="180890" y="40527"/>
                  <a:pt x="180890" y="90445"/>
                </a:cubicBezTo>
                <a:cubicBezTo>
                  <a:pt x="180890" y="140363"/>
                  <a:pt x="140363" y="180890"/>
                  <a:pt x="90445" y="180890"/>
                </a:cubicBezTo>
                <a:cubicBezTo>
                  <a:pt x="40527" y="180890"/>
                  <a:pt x="0" y="140363"/>
                  <a:pt x="0" y="90445"/>
                </a:cubicBezTo>
                <a:cubicBezTo>
                  <a:pt x="0" y="40527"/>
                  <a:pt x="40527" y="0"/>
                  <a:pt x="90445" y="0"/>
                </a:cubicBezTo>
                <a:close/>
                <a:moveTo>
                  <a:pt x="81966" y="42396"/>
                </a:moveTo>
                <a:lnTo>
                  <a:pt x="81966" y="90445"/>
                </a:lnTo>
                <a:cubicBezTo>
                  <a:pt x="81966" y="93272"/>
                  <a:pt x="83379" y="95921"/>
                  <a:pt x="85746" y="97511"/>
                </a:cubicBezTo>
                <a:lnTo>
                  <a:pt x="119663" y="120122"/>
                </a:lnTo>
                <a:cubicBezTo>
                  <a:pt x="123549" y="122737"/>
                  <a:pt x="128814" y="121677"/>
                  <a:pt x="131428" y="117755"/>
                </a:cubicBezTo>
                <a:cubicBezTo>
                  <a:pt x="134042" y="113834"/>
                  <a:pt x="132983" y="108605"/>
                  <a:pt x="129061" y="105990"/>
                </a:cubicBezTo>
                <a:lnTo>
                  <a:pt x="98924" y="85923"/>
                </a:lnTo>
                <a:lnTo>
                  <a:pt x="98924" y="42396"/>
                </a:lnTo>
                <a:cubicBezTo>
                  <a:pt x="98924" y="37697"/>
                  <a:pt x="95144" y="33917"/>
                  <a:pt x="90445" y="33917"/>
                </a:cubicBezTo>
                <a:cubicBezTo>
                  <a:pt x="85746" y="33917"/>
                  <a:pt x="81966" y="37697"/>
                  <a:pt x="81966" y="4239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6601702" y="6085149"/>
            <a:ext cx="514632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Urgency Manipulation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01702" y="6338396"/>
            <a:ext cx="5137282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false time pressure to prevent critical thinking. When rushed, people make mistakes. Always take time to verify.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Real-World Phishing Disasters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learned from major organizations that fell victim to phishing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01750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63498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063752"/>
                </a:lnTo>
                <a:cubicBezTo>
                  <a:pt x="5699125" y="2098821"/>
                  <a:pt x="5670696" y="2127250"/>
                  <a:pt x="5635627" y="2127250"/>
                </a:cubicBezTo>
                <a:lnTo>
                  <a:pt x="63498" y="2127250"/>
                </a:lnTo>
                <a:cubicBezTo>
                  <a:pt x="28429" y="2127250"/>
                  <a:pt x="0" y="2098821"/>
                  <a:pt x="0" y="2063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5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6035" y="97408"/>
                </a:moveTo>
                <a:cubicBezTo>
                  <a:pt x="186035" y="150056"/>
                  <a:pt x="149982" y="187523"/>
                  <a:pt x="96738" y="187523"/>
                </a:cubicBezTo>
                <a:cubicBezTo>
                  <a:pt x="45690" y="187523"/>
                  <a:pt x="4465" y="146298"/>
                  <a:pt x="4465" y="95250"/>
                </a:cubicBezTo>
                <a:cubicBezTo>
                  <a:pt x="4465" y="44202"/>
                  <a:pt x="45690" y="2977"/>
                  <a:pt x="96738" y="2977"/>
                </a:cubicBezTo>
                <a:cubicBezTo>
                  <a:pt x="121593" y="2977"/>
                  <a:pt x="142503" y="12092"/>
                  <a:pt x="158614" y="27124"/>
                </a:cubicBezTo>
                <a:lnTo>
                  <a:pt x="133499" y="51271"/>
                </a:lnTo>
                <a:cubicBezTo>
                  <a:pt x="100645" y="19571"/>
                  <a:pt x="39551" y="43383"/>
                  <a:pt x="39551" y="95250"/>
                </a:cubicBezTo>
                <a:cubicBezTo>
                  <a:pt x="39551" y="127434"/>
                  <a:pt x="65261" y="153516"/>
                  <a:pt x="96738" y="153516"/>
                </a:cubicBezTo>
                <a:cubicBezTo>
                  <a:pt x="133276" y="153516"/>
                  <a:pt x="146968" y="127322"/>
                  <a:pt x="149126" y="113742"/>
                </a:cubicBezTo>
                <a:lnTo>
                  <a:pt x="96738" y="113742"/>
                </a:lnTo>
                <a:lnTo>
                  <a:pt x="96738" y="82004"/>
                </a:lnTo>
                <a:lnTo>
                  <a:pt x="184584" y="82004"/>
                </a:lnTo>
                <a:cubicBezTo>
                  <a:pt x="185440" y="86730"/>
                  <a:pt x="186035" y="91269"/>
                  <a:pt x="186035" y="97408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460500"/>
            <a:ext cx="145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&amp; Facebook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1682750"/>
            <a:ext cx="142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2013-2015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943102"/>
            <a:ext cx="8303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2222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" y="2476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Lithuanian hacker impersonated an Asian manufacturer and sent fake invoices over two years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" y="2730500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2825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016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strict verification procedures for large financial transactions, even from "trusted" vendors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5375" y="1301750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63498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063752"/>
                </a:lnTo>
                <a:cubicBezTo>
                  <a:pt x="5699125" y="2098821"/>
                  <a:pt x="5670696" y="2127250"/>
                  <a:pt x="5635627" y="2127250"/>
                </a:cubicBezTo>
                <a:lnTo>
                  <a:pt x="63498" y="2127250"/>
                </a:lnTo>
                <a:cubicBezTo>
                  <a:pt x="28429" y="2127250"/>
                  <a:pt x="0" y="2098821"/>
                  <a:pt x="0" y="2063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4125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29375" y="155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0929" y="56443"/>
                </a:moveTo>
                <a:cubicBezTo>
                  <a:pt x="171041" y="58117"/>
                  <a:pt x="171041" y="59829"/>
                  <a:pt x="171041" y="61503"/>
                </a:cubicBezTo>
                <a:cubicBezTo>
                  <a:pt x="171041" y="113109"/>
                  <a:pt x="131750" y="172603"/>
                  <a:pt x="59941" y="172603"/>
                </a:cubicBezTo>
                <a:cubicBezTo>
                  <a:pt x="37802" y="172603"/>
                  <a:pt x="17264" y="166204"/>
                  <a:pt x="0" y="155079"/>
                </a:cubicBezTo>
                <a:cubicBezTo>
                  <a:pt x="3125" y="155451"/>
                  <a:pt x="6176" y="155563"/>
                  <a:pt x="9413" y="155563"/>
                </a:cubicBezTo>
                <a:cubicBezTo>
                  <a:pt x="27682" y="155563"/>
                  <a:pt x="44462" y="149386"/>
                  <a:pt x="57894" y="138894"/>
                </a:cubicBezTo>
                <a:cubicBezTo>
                  <a:pt x="40742" y="138522"/>
                  <a:pt x="26343" y="127285"/>
                  <a:pt x="21394" y="111807"/>
                </a:cubicBezTo>
                <a:cubicBezTo>
                  <a:pt x="23812" y="112179"/>
                  <a:pt x="26231" y="112402"/>
                  <a:pt x="28761" y="112402"/>
                </a:cubicBezTo>
                <a:cubicBezTo>
                  <a:pt x="32258" y="112402"/>
                  <a:pt x="35756" y="111919"/>
                  <a:pt x="39030" y="111063"/>
                </a:cubicBezTo>
                <a:cubicBezTo>
                  <a:pt x="21134" y="107454"/>
                  <a:pt x="7739" y="91715"/>
                  <a:pt x="7739" y="72740"/>
                </a:cubicBezTo>
                <a:lnTo>
                  <a:pt x="7739" y="72256"/>
                </a:lnTo>
                <a:cubicBezTo>
                  <a:pt x="12948" y="75158"/>
                  <a:pt x="18976" y="76981"/>
                  <a:pt x="25375" y="77205"/>
                </a:cubicBezTo>
                <a:cubicBezTo>
                  <a:pt x="14846" y="70210"/>
                  <a:pt x="7962" y="58229"/>
                  <a:pt x="7962" y="44686"/>
                </a:cubicBezTo>
                <a:cubicBezTo>
                  <a:pt x="7962" y="37430"/>
                  <a:pt x="9897" y="30770"/>
                  <a:pt x="13283" y="24966"/>
                </a:cubicBezTo>
                <a:cubicBezTo>
                  <a:pt x="32519" y="48667"/>
                  <a:pt x="61392" y="64145"/>
                  <a:pt x="93799" y="65819"/>
                </a:cubicBezTo>
                <a:cubicBezTo>
                  <a:pt x="93204" y="62917"/>
                  <a:pt x="92832" y="59903"/>
                  <a:pt x="92832" y="56890"/>
                </a:cubicBezTo>
                <a:cubicBezTo>
                  <a:pt x="92832" y="35384"/>
                  <a:pt x="110244" y="17859"/>
                  <a:pt x="131862" y="17859"/>
                </a:cubicBezTo>
                <a:cubicBezTo>
                  <a:pt x="143098" y="17859"/>
                  <a:pt x="153256" y="22585"/>
                  <a:pt x="160400" y="30175"/>
                </a:cubicBezTo>
                <a:cubicBezTo>
                  <a:pt x="169218" y="28501"/>
                  <a:pt x="177701" y="25226"/>
                  <a:pt x="185179" y="20762"/>
                </a:cubicBezTo>
                <a:cubicBezTo>
                  <a:pt x="182277" y="29840"/>
                  <a:pt x="176101" y="37430"/>
                  <a:pt x="168027" y="42267"/>
                </a:cubicBezTo>
                <a:cubicBezTo>
                  <a:pt x="175878" y="41411"/>
                  <a:pt x="183505" y="39253"/>
                  <a:pt x="190500" y="36240"/>
                </a:cubicBezTo>
                <a:cubicBezTo>
                  <a:pt x="185179" y="43979"/>
                  <a:pt x="178519" y="50862"/>
                  <a:pt x="170929" y="5644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6810375" y="1460500"/>
            <a:ext cx="153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Twitter Bitcoin Scam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0375" y="1682750"/>
            <a:ext cx="150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July 2020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4125" y="1943102"/>
            <a:ext cx="6713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$118K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4125" y="2222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Bitcoin Stolen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4125" y="2476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130 high-profile accounts compromised including Obama, Musk, Gates through social engineering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4125" y="2730500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29375" y="2825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75" y="3016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employee access to internal tools and implement strict role-based permissions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7500" y="3587750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63498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063752"/>
                </a:lnTo>
                <a:cubicBezTo>
                  <a:pt x="5699125" y="2098821"/>
                  <a:pt x="5670696" y="2127250"/>
                  <a:pt x="5635627" y="2127250"/>
                </a:cubicBezTo>
                <a:lnTo>
                  <a:pt x="63498" y="2127250"/>
                </a:lnTo>
                <a:cubicBezTo>
                  <a:pt x="28429" y="2127250"/>
                  <a:pt x="0" y="2098821"/>
                  <a:pt x="0" y="2063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5313" y="3841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3746500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MGM Resorts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3968750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September 2023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6250" y="4229102"/>
            <a:ext cx="9487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$100M+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6250" y="4508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Impact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6250" y="4762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"Scattered Spider" group used voice phishing and social engineering to shut down operations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6250" y="5016500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" y="5111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5302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Vishing attacks are on the rise - train employees to verify callers through callbacks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3587750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63498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063752"/>
                </a:lnTo>
                <a:cubicBezTo>
                  <a:pt x="5699125" y="2098821"/>
                  <a:pt x="5670696" y="2127250"/>
                  <a:pt x="5635627" y="2127250"/>
                </a:cubicBezTo>
                <a:lnTo>
                  <a:pt x="63498" y="2127250"/>
                </a:lnTo>
                <a:cubicBezTo>
                  <a:pt x="28429" y="2127250"/>
                  <a:pt x="0" y="2098821"/>
                  <a:pt x="0" y="2063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9" name="Shape 37"/>
          <p:cNvSpPr/>
          <p:nvPr/>
        </p:nvSpPr>
        <p:spPr>
          <a:xfrm>
            <a:off x="6334125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384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11906" y="10678"/>
                  <a:pt x="22585" y="0"/>
                  <a:pt x="35719" y="0"/>
                </a:cubicBezTo>
                <a:lnTo>
                  <a:pt x="95250" y="0"/>
                </a:lnTo>
                <a:cubicBezTo>
                  <a:pt x="108384" y="0"/>
                  <a:pt x="119063" y="10678"/>
                  <a:pt x="119063" y="23812"/>
                </a:cubicBezTo>
                <a:lnTo>
                  <a:pt x="119063" y="95250"/>
                </a:lnTo>
                <a:lnTo>
                  <a:pt x="122039" y="95250"/>
                </a:lnTo>
                <a:cubicBezTo>
                  <a:pt x="140122" y="95250"/>
                  <a:pt x="154781" y="109910"/>
                  <a:pt x="154781" y="127992"/>
                </a:cubicBezTo>
                <a:lnTo>
                  <a:pt x="154781" y="139898"/>
                </a:lnTo>
                <a:cubicBezTo>
                  <a:pt x="154781" y="144847"/>
                  <a:pt x="158762" y="148828"/>
                  <a:pt x="163711" y="148828"/>
                </a:cubicBezTo>
                <a:cubicBezTo>
                  <a:pt x="168659" y="148828"/>
                  <a:pt x="172641" y="144847"/>
                  <a:pt x="172641" y="139898"/>
                </a:cubicBezTo>
                <a:lnTo>
                  <a:pt x="172641" y="82600"/>
                </a:lnTo>
                <a:cubicBezTo>
                  <a:pt x="162371" y="79958"/>
                  <a:pt x="154781" y="70619"/>
                  <a:pt x="154781" y="59531"/>
                </a:cubicBezTo>
                <a:lnTo>
                  <a:pt x="154781" y="37393"/>
                </a:lnTo>
                <a:lnTo>
                  <a:pt x="145182" y="26863"/>
                </a:lnTo>
                <a:cubicBezTo>
                  <a:pt x="141870" y="23217"/>
                  <a:pt x="142131" y="17562"/>
                  <a:pt x="145777" y="14250"/>
                </a:cubicBezTo>
                <a:cubicBezTo>
                  <a:pt x="149423" y="10939"/>
                  <a:pt x="155079" y="11199"/>
                  <a:pt x="158390" y="14846"/>
                </a:cubicBezTo>
                <a:lnTo>
                  <a:pt x="185068" y="44165"/>
                </a:lnTo>
                <a:cubicBezTo>
                  <a:pt x="188565" y="47997"/>
                  <a:pt x="190500" y="52983"/>
                  <a:pt x="190500" y="58192"/>
                </a:cubicBezTo>
                <a:lnTo>
                  <a:pt x="190500" y="139898"/>
                </a:lnTo>
                <a:cubicBezTo>
                  <a:pt x="190500" y="154707"/>
                  <a:pt x="178519" y="166688"/>
                  <a:pt x="163711" y="166688"/>
                </a:cubicBezTo>
                <a:cubicBezTo>
                  <a:pt x="148903" y="166688"/>
                  <a:pt x="136922" y="154707"/>
                  <a:pt x="136922" y="139898"/>
                </a:cubicBezTo>
                <a:lnTo>
                  <a:pt x="136922" y="127992"/>
                </a:lnTo>
                <a:cubicBezTo>
                  <a:pt x="136922" y="119769"/>
                  <a:pt x="130262" y="113109"/>
                  <a:pt x="122039" y="113109"/>
                </a:cubicBezTo>
                <a:lnTo>
                  <a:pt x="119063" y="113109"/>
                </a:lnTo>
                <a:lnTo>
                  <a:pt x="119063" y="173162"/>
                </a:lnTo>
                <a:cubicBezTo>
                  <a:pt x="122523" y="174389"/>
                  <a:pt x="125016" y="177701"/>
                  <a:pt x="125016" y="181570"/>
                </a:cubicBezTo>
                <a:cubicBezTo>
                  <a:pt x="125016" y="186519"/>
                  <a:pt x="121034" y="190500"/>
                  <a:pt x="116086" y="190500"/>
                </a:cubicBezTo>
                <a:lnTo>
                  <a:pt x="14883" y="190500"/>
                </a:lnTo>
                <a:cubicBezTo>
                  <a:pt x="9934" y="190500"/>
                  <a:pt x="5953" y="186519"/>
                  <a:pt x="5953" y="181570"/>
                </a:cubicBezTo>
                <a:cubicBezTo>
                  <a:pt x="5953" y="177664"/>
                  <a:pt x="8446" y="174389"/>
                  <a:pt x="11906" y="173162"/>
                </a:cubicBezTo>
                <a:lnTo>
                  <a:pt x="11906" y="23812"/>
                </a:lnTo>
                <a:close/>
                <a:moveTo>
                  <a:pt x="35719" y="29766"/>
                </a:moveTo>
                <a:lnTo>
                  <a:pt x="35719" y="65484"/>
                </a:lnTo>
                <a:cubicBezTo>
                  <a:pt x="35719" y="68759"/>
                  <a:pt x="38398" y="71438"/>
                  <a:pt x="41672" y="71438"/>
                </a:cubicBezTo>
                <a:lnTo>
                  <a:pt x="89297" y="71438"/>
                </a:lnTo>
                <a:cubicBezTo>
                  <a:pt x="92571" y="71438"/>
                  <a:pt x="95250" y="68759"/>
                  <a:pt x="95250" y="65484"/>
                </a:cubicBezTo>
                <a:lnTo>
                  <a:pt x="95250" y="29766"/>
                </a:lnTo>
                <a:cubicBezTo>
                  <a:pt x="95250" y="26491"/>
                  <a:pt x="92571" y="23812"/>
                  <a:pt x="89297" y="23812"/>
                </a:cubicBezTo>
                <a:lnTo>
                  <a:pt x="41672" y="23812"/>
                </a:lnTo>
                <a:cubicBezTo>
                  <a:pt x="38398" y="23812"/>
                  <a:pt x="35719" y="26491"/>
                  <a:pt x="35719" y="2976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6810375" y="3746500"/>
            <a:ext cx="123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Colonial Pipeline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0375" y="3968750"/>
            <a:ext cx="121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125" y="4229102"/>
            <a:ext cx="743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$4.4M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34125" y="4508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Ransom Paid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34125" y="4762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Ransomware attack began with compromised credentials from a phishing email, causing fuel shortages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4125" y="5016500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7" name="Text 45"/>
          <p:cNvSpPr/>
          <p:nvPr/>
        </p:nvSpPr>
        <p:spPr>
          <a:xfrm>
            <a:off x="6429375" y="5111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9375" y="5302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employee training with technical controls like MFA and endpoint security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0675" y="5845175"/>
            <a:ext cx="11547475" cy="800100"/>
          </a:xfrm>
          <a:custGeom>
            <a:avLst/>
            <a:gdLst/>
            <a:ahLst/>
            <a:cxnLst/>
            <a:rect l="l" t="t" r="r" b="b"/>
            <a:pathLst>
              <a:path w="11547475" h="800100">
                <a:moveTo>
                  <a:pt x="63504" y="0"/>
                </a:moveTo>
                <a:lnTo>
                  <a:pt x="11483971" y="0"/>
                </a:lnTo>
                <a:cubicBezTo>
                  <a:pt x="11519043" y="0"/>
                  <a:pt x="11547475" y="28432"/>
                  <a:pt x="11547475" y="63504"/>
                </a:cubicBezTo>
                <a:lnTo>
                  <a:pt x="11547475" y="736596"/>
                </a:lnTo>
                <a:cubicBezTo>
                  <a:pt x="11547475" y="771668"/>
                  <a:pt x="11519043" y="800100"/>
                  <a:pt x="11483971" y="800100"/>
                </a:cubicBezTo>
                <a:lnTo>
                  <a:pt x="63504" y="800100"/>
                </a:lnTo>
                <a:cubicBezTo>
                  <a:pt x="28432" y="800100"/>
                  <a:pt x="0" y="771668"/>
                  <a:pt x="0" y="73659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725" y="5975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1" name="Text 49"/>
          <p:cNvSpPr/>
          <p:nvPr/>
        </p:nvSpPr>
        <p:spPr>
          <a:xfrm>
            <a:off x="739577" y="5975352"/>
            <a:ext cx="1106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9577" y="6197602"/>
            <a:ext cx="11056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attacks succeeded not because of sophisticated technology, but because they exploited human psychology and trust. Even the most tech-savvy organizations can fall victim when employees are distracted, rushed, or manipulated.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Best Practices: Protect Yourself and Your Organization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strategies to defend against phishing attacks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17625"/>
            <a:ext cx="5683250" cy="1762125"/>
          </a:xfrm>
          <a:custGeom>
            <a:avLst/>
            <a:gdLst/>
            <a:ahLst/>
            <a:cxnLst/>
            <a:rect l="l" t="t" r="r" b="b"/>
            <a:pathLst>
              <a:path w="5683250" h="1762125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1698618"/>
                </a:lnTo>
                <a:cubicBezTo>
                  <a:pt x="5683250" y="1733692"/>
                  <a:pt x="5654817" y="1762125"/>
                  <a:pt x="5619743" y="1762125"/>
                </a:cubicBezTo>
                <a:lnTo>
                  <a:pt x="63507" y="1762125"/>
                </a:lnTo>
                <a:cubicBezTo>
                  <a:pt x="28433" y="1762125"/>
                  <a:pt x="0" y="1733692"/>
                  <a:pt x="0" y="169861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1317625"/>
            <a:ext cx="5683250" cy="31750"/>
          </a:xfrm>
          <a:custGeom>
            <a:avLst/>
            <a:gdLst/>
            <a:ahLst/>
            <a:cxnLst/>
            <a:rect l="l" t="t" r="r" b="b"/>
            <a:pathLst>
              <a:path w="5683250" h="31750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1492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2995" y="157162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1571625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the SLAM Method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1968500"/>
            <a:ext cx="2651125" cy="444500"/>
          </a:xfrm>
          <a:custGeom>
            <a:avLst/>
            <a:gdLst/>
            <a:ahLst/>
            <a:cxnLst/>
            <a:rect l="l" t="t" r="r" b="b"/>
            <a:pathLst>
              <a:path w="2651125" h="444500">
                <a:moveTo>
                  <a:pt x="31751" y="0"/>
                </a:moveTo>
                <a:lnTo>
                  <a:pt x="2619374" y="0"/>
                </a:lnTo>
                <a:cubicBezTo>
                  <a:pt x="2636910" y="0"/>
                  <a:pt x="2651125" y="14215"/>
                  <a:pt x="2651125" y="31751"/>
                </a:cubicBezTo>
                <a:lnTo>
                  <a:pt x="2651125" y="412749"/>
                </a:lnTo>
                <a:cubicBezTo>
                  <a:pt x="2651125" y="430285"/>
                  <a:pt x="2636910" y="444500"/>
                  <a:pt x="26193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539750" y="2032000"/>
            <a:ext cx="258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- Sender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" y="222250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the email address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90875" y="1968500"/>
            <a:ext cx="2651125" cy="444500"/>
          </a:xfrm>
          <a:custGeom>
            <a:avLst/>
            <a:gdLst/>
            <a:ahLst/>
            <a:cxnLst/>
            <a:rect l="l" t="t" r="r" b="b"/>
            <a:pathLst>
              <a:path w="2651125" h="444500">
                <a:moveTo>
                  <a:pt x="31751" y="0"/>
                </a:moveTo>
                <a:lnTo>
                  <a:pt x="2619374" y="0"/>
                </a:lnTo>
                <a:cubicBezTo>
                  <a:pt x="2636910" y="0"/>
                  <a:pt x="2651125" y="14215"/>
                  <a:pt x="2651125" y="31751"/>
                </a:cubicBezTo>
                <a:lnTo>
                  <a:pt x="2651125" y="412749"/>
                </a:lnTo>
                <a:cubicBezTo>
                  <a:pt x="2651125" y="430285"/>
                  <a:pt x="2636910" y="444500"/>
                  <a:pt x="26193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4" name="Text 12"/>
          <p:cNvSpPr/>
          <p:nvPr/>
        </p:nvSpPr>
        <p:spPr>
          <a:xfrm>
            <a:off x="3254375" y="2032000"/>
            <a:ext cx="258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- Links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54375" y="222250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Hover before clicking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2476403"/>
            <a:ext cx="2651125" cy="444500"/>
          </a:xfrm>
          <a:custGeom>
            <a:avLst/>
            <a:gdLst/>
            <a:ahLst/>
            <a:cxnLst/>
            <a:rect l="l" t="t" r="r" b="b"/>
            <a:pathLst>
              <a:path w="2651125" h="444500">
                <a:moveTo>
                  <a:pt x="31751" y="0"/>
                </a:moveTo>
                <a:lnTo>
                  <a:pt x="2619374" y="0"/>
                </a:lnTo>
                <a:cubicBezTo>
                  <a:pt x="2636910" y="0"/>
                  <a:pt x="2651125" y="14215"/>
                  <a:pt x="2651125" y="31751"/>
                </a:cubicBezTo>
                <a:lnTo>
                  <a:pt x="2651125" y="412749"/>
                </a:lnTo>
                <a:cubicBezTo>
                  <a:pt x="2651125" y="430285"/>
                  <a:pt x="2636910" y="444500"/>
                  <a:pt x="26193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750" y="2539903"/>
            <a:ext cx="258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- Attachments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750" y="2730403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before opening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90875" y="2476403"/>
            <a:ext cx="2651125" cy="444500"/>
          </a:xfrm>
          <a:custGeom>
            <a:avLst/>
            <a:gdLst/>
            <a:ahLst/>
            <a:cxnLst/>
            <a:rect l="l" t="t" r="r" b="b"/>
            <a:pathLst>
              <a:path w="2651125" h="444500">
                <a:moveTo>
                  <a:pt x="31751" y="0"/>
                </a:moveTo>
                <a:lnTo>
                  <a:pt x="2619374" y="0"/>
                </a:lnTo>
                <a:cubicBezTo>
                  <a:pt x="2636910" y="0"/>
                  <a:pt x="2651125" y="14215"/>
                  <a:pt x="2651125" y="31751"/>
                </a:cubicBezTo>
                <a:lnTo>
                  <a:pt x="2651125" y="412749"/>
                </a:lnTo>
                <a:cubicBezTo>
                  <a:pt x="2651125" y="430285"/>
                  <a:pt x="2636910" y="444500"/>
                  <a:pt x="26193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0" name="Text 18"/>
          <p:cNvSpPr/>
          <p:nvPr/>
        </p:nvSpPr>
        <p:spPr>
          <a:xfrm>
            <a:off x="3254375" y="2539903"/>
            <a:ext cx="258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 - Message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54375" y="2730403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for red flags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7500" y="3206552"/>
            <a:ext cx="5683250" cy="1714500"/>
          </a:xfrm>
          <a:custGeom>
            <a:avLst/>
            <a:gdLst/>
            <a:ahLst/>
            <a:cxnLst/>
            <a:rect l="l" t="t" r="r" b="b"/>
            <a:pathLst>
              <a:path w="5683250" h="1714500">
                <a:moveTo>
                  <a:pt x="63505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650995"/>
                </a:lnTo>
                <a:cubicBezTo>
                  <a:pt x="5683250" y="1686068"/>
                  <a:pt x="5654818" y="1714500"/>
                  <a:pt x="561974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250" y="3365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87375" y="34764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444677"/>
            <a:ext cx="252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Multi-Factor Authentication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250" y="3841552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 adds a critical second layer of security, making stolen credentials alone insufficient for access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6250" y="4095552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31751" y="0"/>
                </a:moveTo>
                <a:lnTo>
                  <a:pt x="5333999" y="0"/>
                </a:lnTo>
                <a:cubicBezTo>
                  <a:pt x="5351535" y="0"/>
                  <a:pt x="5365750" y="14215"/>
                  <a:pt x="5365750" y="31751"/>
                </a:cubicBezTo>
                <a:lnTo>
                  <a:pt x="5365750" y="634999"/>
                </a:lnTo>
                <a:cubicBezTo>
                  <a:pt x="5365750" y="652535"/>
                  <a:pt x="5351535" y="666750"/>
                  <a:pt x="53339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" y="419080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Use authenticator apps or hardware keys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34955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Enable on all accounts, especially email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450830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Avoid SMS-based MFA when possible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7500" y="5048052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76250" y="52068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7219" y="531792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39688" y="29766"/>
                </a:moveTo>
                <a:lnTo>
                  <a:pt x="39688" y="49609"/>
                </a:lnTo>
                <a:lnTo>
                  <a:pt x="79375" y="49609"/>
                </a:lnTo>
                <a:lnTo>
                  <a:pt x="79375" y="29766"/>
                </a:lnTo>
                <a:cubicBezTo>
                  <a:pt x="79375" y="18821"/>
                  <a:pt x="70476" y="9922"/>
                  <a:pt x="59531" y="9922"/>
                </a:cubicBezTo>
                <a:cubicBezTo>
                  <a:pt x="48586" y="9922"/>
                  <a:pt x="39688" y="18821"/>
                  <a:pt x="39688" y="29766"/>
                </a:cubicBezTo>
                <a:close/>
                <a:moveTo>
                  <a:pt x="19844" y="49609"/>
                </a:moveTo>
                <a:lnTo>
                  <a:pt x="19844" y="29766"/>
                </a:lnTo>
                <a:cubicBezTo>
                  <a:pt x="19844" y="7844"/>
                  <a:pt x="37610" y="-9922"/>
                  <a:pt x="59531" y="-9922"/>
                </a:cubicBezTo>
                <a:cubicBezTo>
                  <a:pt x="81452" y="-9922"/>
                  <a:pt x="99219" y="7844"/>
                  <a:pt x="99219" y="29766"/>
                </a:cubicBezTo>
                <a:lnTo>
                  <a:pt x="99219" y="49609"/>
                </a:lnTo>
                <a:cubicBezTo>
                  <a:pt x="110164" y="49609"/>
                  <a:pt x="119062" y="58508"/>
                  <a:pt x="119062" y="69453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69453"/>
                </a:lnTo>
                <a:cubicBezTo>
                  <a:pt x="0" y="58508"/>
                  <a:pt x="8899" y="49609"/>
                  <a:pt x="19844" y="496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5286177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Password Managers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6250" y="5683052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managers verify domain names before auto-filling credentials, preventing phishing site logins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50" y="1301750"/>
            <a:ext cx="5683250" cy="1714500"/>
          </a:xfrm>
          <a:custGeom>
            <a:avLst/>
            <a:gdLst/>
            <a:ahLst/>
            <a:cxnLst/>
            <a:rect l="l" t="t" r="r" b="b"/>
            <a:pathLst>
              <a:path w="5683250" h="1714500">
                <a:moveTo>
                  <a:pt x="63505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650995"/>
                </a:lnTo>
                <a:cubicBezTo>
                  <a:pt x="5683250" y="1686068"/>
                  <a:pt x="5654818" y="1714500"/>
                  <a:pt x="561974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0000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61125" y="1571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9671" y="7751"/>
                </a:moveTo>
                <a:cubicBezTo>
                  <a:pt x="47222" y="1891"/>
                  <a:pt x="40835" y="-1209"/>
                  <a:pt x="34758" y="434"/>
                </a:cubicBezTo>
                <a:lnTo>
                  <a:pt x="33052" y="899"/>
                </a:lnTo>
                <a:cubicBezTo>
                  <a:pt x="13022" y="6356"/>
                  <a:pt x="-4093" y="25766"/>
                  <a:pt x="899" y="49392"/>
                </a:cubicBezTo>
                <a:cubicBezTo>
                  <a:pt x="12402" y="103653"/>
                  <a:pt x="55097" y="146348"/>
                  <a:pt x="109358" y="157851"/>
                </a:cubicBezTo>
                <a:cubicBezTo>
                  <a:pt x="133015" y="162874"/>
                  <a:pt x="152394" y="145728"/>
                  <a:pt x="157851" y="125698"/>
                </a:cubicBezTo>
                <a:lnTo>
                  <a:pt x="158316" y="123992"/>
                </a:lnTo>
                <a:cubicBezTo>
                  <a:pt x="159990" y="117884"/>
                  <a:pt x="156859" y="111497"/>
                  <a:pt x="151030" y="109079"/>
                </a:cubicBezTo>
                <a:lnTo>
                  <a:pt x="120861" y="96521"/>
                </a:lnTo>
                <a:cubicBezTo>
                  <a:pt x="115745" y="94382"/>
                  <a:pt x="109823" y="95870"/>
                  <a:pt x="106288" y="100180"/>
                </a:cubicBezTo>
                <a:lnTo>
                  <a:pt x="94320" y="114815"/>
                </a:lnTo>
                <a:cubicBezTo>
                  <a:pt x="72523" y="103994"/>
                  <a:pt x="54973" y="85886"/>
                  <a:pt x="44896" y="63655"/>
                </a:cubicBezTo>
                <a:lnTo>
                  <a:pt x="58601" y="52493"/>
                </a:lnTo>
                <a:cubicBezTo>
                  <a:pt x="62911" y="48989"/>
                  <a:pt x="64368" y="43067"/>
                  <a:pt x="62260" y="37920"/>
                </a:cubicBezTo>
                <a:lnTo>
                  <a:pt x="49671" y="7751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9" name="Text 37"/>
          <p:cNvSpPr/>
          <p:nvPr/>
        </p:nvSpPr>
        <p:spPr>
          <a:xfrm>
            <a:off x="6826250" y="1539875"/>
            <a:ext cx="207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Unexpected Requests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0000" y="19367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verify through a separate, trusted communication channel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0" y="2190750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31751" y="0"/>
                </a:moveTo>
                <a:lnTo>
                  <a:pt x="5333999" y="0"/>
                </a:lnTo>
                <a:cubicBezTo>
                  <a:pt x="5351535" y="0"/>
                  <a:pt x="5365750" y="14215"/>
                  <a:pt x="5365750" y="31751"/>
                </a:cubicBezTo>
                <a:lnTo>
                  <a:pt x="5365750" y="634999"/>
                </a:lnTo>
                <a:cubicBezTo>
                  <a:pt x="5365750" y="652535"/>
                  <a:pt x="5351535" y="666750"/>
                  <a:pt x="53339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2" name="Text 40"/>
          <p:cNvSpPr/>
          <p:nvPr/>
        </p:nvSpPr>
        <p:spPr>
          <a:xfrm>
            <a:off x="6445250" y="2286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Call the sender using a known number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45250" y="24447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official websites, not email links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45250" y="2603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use contact info from suspicious emails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3143250"/>
            <a:ext cx="5683250" cy="1714500"/>
          </a:xfrm>
          <a:custGeom>
            <a:avLst/>
            <a:gdLst/>
            <a:ahLst/>
            <a:cxnLst/>
            <a:rect l="l" t="t" r="r" b="b"/>
            <a:pathLst>
              <a:path w="5683250" h="1714500">
                <a:moveTo>
                  <a:pt x="63505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650995"/>
                </a:lnTo>
                <a:cubicBezTo>
                  <a:pt x="5683250" y="1686068"/>
                  <a:pt x="5654818" y="1714500"/>
                  <a:pt x="561974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6" name="Shape 44"/>
          <p:cNvSpPr/>
          <p:nvPr/>
        </p:nvSpPr>
        <p:spPr>
          <a:xfrm>
            <a:off x="6350000" y="330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61125" y="3413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6826250" y="338137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Software Updated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0000" y="37782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updates patch security vulnerabilities that attackers exploit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0000" y="4032250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31751" y="0"/>
                </a:moveTo>
                <a:lnTo>
                  <a:pt x="5333999" y="0"/>
                </a:lnTo>
                <a:cubicBezTo>
                  <a:pt x="5351535" y="0"/>
                  <a:pt x="5365750" y="14215"/>
                  <a:pt x="5365750" y="31751"/>
                </a:cubicBezTo>
                <a:lnTo>
                  <a:pt x="5365750" y="634999"/>
                </a:lnTo>
                <a:cubicBezTo>
                  <a:pt x="5365750" y="652535"/>
                  <a:pt x="5351535" y="666750"/>
                  <a:pt x="53339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1" name="Text 49"/>
          <p:cNvSpPr/>
          <p:nvPr/>
        </p:nvSpPr>
        <p:spPr>
          <a:xfrm>
            <a:off x="6445250" y="4127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Enable automatic updates when possible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45250" y="428625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Update OS, browsers, and applications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5250" y="4445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antivirus and security tools current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1250" y="4984750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55" name="Shape 53"/>
          <p:cNvSpPr/>
          <p:nvPr/>
        </p:nvSpPr>
        <p:spPr>
          <a:xfrm>
            <a:off x="6350000" y="514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71047" y="5254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19844" y="4434"/>
                  <a:pt x="15410" y="0"/>
                  <a:pt x="9922" y="0"/>
                </a:cubicBezTo>
                <a:cubicBezTo>
                  <a:pt x="4434" y="0"/>
                  <a:pt x="0" y="4434"/>
                  <a:pt x="0" y="9922"/>
                </a:cubicBez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cubicBezTo>
                  <a:pt x="15410" y="158750"/>
                  <a:pt x="19844" y="154316"/>
                  <a:pt x="19844" y="148828"/>
                </a:cubicBezTo>
                <a:lnTo>
                  <a:pt x="19844" y="111125"/>
                </a:lnTo>
                <a:lnTo>
                  <a:pt x="39284" y="105296"/>
                </a:lnTo>
                <a:cubicBezTo>
                  <a:pt x="52276" y="101389"/>
                  <a:pt x="66291" y="102598"/>
                  <a:pt x="78414" y="108676"/>
                </a:cubicBezTo>
                <a:cubicBezTo>
                  <a:pt x="91653" y="115311"/>
                  <a:pt x="107094" y="116117"/>
                  <a:pt x="120954" y="110908"/>
                </a:cubicBezTo>
                <a:lnTo>
                  <a:pt x="132457" y="106598"/>
                </a:lnTo>
                <a:cubicBezTo>
                  <a:pt x="136333" y="105141"/>
                  <a:pt x="138906" y="101451"/>
                  <a:pt x="138906" y="97296"/>
                </a:cubicBezTo>
                <a:lnTo>
                  <a:pt x="138906" y="20495"/>
                </a:lnTo>
                <a:cubicBezTo>
                  <a:pt x="138906" y="13364"/>
                  <a:pt x="131403" y="8713"/>
                  <a:pt x="125016" y="11906"/>
                </a:cubicBezTo>
                <a:lnTo>
                  <a:pt x="121357" y="13736"/>
                </a:lnTo>
                <a:cubicBezTo>
                  <a:pt x="107435" y="20712"/>
                  <a:pt x="91033" y="20712"/>
                  <a:pt x="77081" y="13736"/>
                </a:cubicBezTo>
                <a:cubicBezTo>
                  <a:pt x="65794" y="8093"/>
                  <a:pt x="52803" y="6976"/>
                  <a:pt x="40742" y="10604"/>
                </a:cubicBezTo>
                <a:lnTo>
                  <a:pt x="19844" y="16867"/>
                </a:lnTo>
                <a:lnTo>
                  <a:pt x="19844" y="9922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7" name="Text 55"/>
          <p:cNvSpPr/>
          <p:nvPr/>
        </p:nvSpPr>
        <p:spPr>
          <a:xfrm>
            <a:off x="6826250" y="5222875"/>
            <a:ext cx="184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Suspicious Emails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50000" y="56197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reporting helps IT security teams block attacks and protect others in the organization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0675" y="6130727"/>
            <a:ext cx="11547475" cy="800100"/>
          </a:xfrm>
          <a:custGeom>
            <a:avLst/>
            <a:gdLst/>
            <a:ahLst/>
            <a:cxnLst/>
            <a:rect l="l" t="t" r="r" b="b"/>
            <a:pathLst>
              <a:path w="11547475" h="800100">
                <a:moveTo>
                  <a:pt x="63504" y="0"/>
                </a:moveTo>
                <a:lnTo>
                  <a:pt x="11483971" y="0"/>
                </a:lnTo>
                <a:cubicBezTo>
                  <a:pt x="11519043" y="0"/>
                  <a:pt x="11547475" y="28432"/>
                  <a:pt x="11547475" y="63504"/>
                </a:cubicBezTo>
                <a:lnTo>
                  <a:pt x="11547475" y="736596"/>
                </a:lnTo>
                <a:cubicBezTo>
                  <a:pt x="11547475" y="771668"/>
                  <a:pt x="11519043" y="800100"/>
                  <a:pt x="11483971" y="800100"/>
                </a:cubicBezTo>
                <a:lnTo>
                  <a:pt x="63504" y="800100"/>
                </a:lnTo>
                <a:cubicBezTo>
                  <a:pt x="28432" y="800100"/>
                  <a:pt x="0" y="771668"/>
                  <a:pt x="0" y="73659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2834" y="626090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1" name="Text 59"/>
          <p:cNvSpPr/>
          <p:nvPr/>
        </p:nvSpPr>
        <p:spPr>
          <a:xfrm>
            <a:off x="726678" y="6260901"/>
            <a:ext cx="1108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6678" y="6483151"/>
            <a:ext cx="11072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tactics evolve constantly. Participate in regular security awareness training and simulated phishing exercises to stay current with emerging threats. Organizations that conduct ongoing training reduce phishing susceptibility from 30% to under 5%.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Knowledge Check: Test Your Awareness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quiz - Test your ability to identify phishing attempts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01750"/>
            <a:ext cx="5699125" cy="2301875"/>
          </a:xfrm>
          <a:custGeom>
            <a:avLst/>
            <a:gdLst/>
            <a:ahLst/>
            <a:cxnLst/>
            <a:rect l="l" t="t" r="r" b="b"/>
            <a:pathLst>
              <a:path w="5699125" h="2301875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2238366"/>
                </a:lnTo>
                <a:cubicBezTo>
                  <a:pt x="5699125" y="2273441"/>
                  <a:pt x="5670691" y="2301875"/>
                  <a:pt x="5635616" y="2301875"/>
                </a:cubicBezTo>
                <a:lnTo>
                  <a:pt x="63509" y="2301875"/>
                </a:lnTo>
                <a:cubicBezTo>
                  <a:pt x="28434" y="2301875"/>
                  <a:pt x="0" y="2273441"/>
                  <a:pt x="0" y="223836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460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66638" y="1524000"/>
            <a:ext cx="19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1460500"/>
            <a:ext cx="504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Urgent Bank Email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746250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receive an email from your bank asking to "verify your account immediately" with a link. What's the safest action?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" y="2159000"/>
            <a:ext cx="4968875" cy="285750"/>
          </a:xfrm>
          <a:custGeom>
            <a:avLst/>
            <a:gdLst/>
            <a:ahLst/>
            <a:cxnLst/>
            <a:rect l="l" t="t" r="r" b="b"/>
            <a:pathLst>
              <a:path w="4968875" h="285750">
                <a:moveTo>
                  <a:pt x="31750" y="0"/>
                </a:moveTo>
                <a:lnTo>
                  <a:pt x="4937125" y="0"/>
                </a:lnTo>
                <a:cubicBezTo>
                  <a:pt x="4954660" y="0"/>
                  <a:pt x="4968875" y="14215"/>
                  <a:pt x="4968875" y="31750"/>
                </a:cubicBezTo>
                <a:lnTo>
                  <a:pt x="4968875" y="254000"/>
                </a:lnTo>
                <a:cubicBezTo>
                  <a:pt x="4968875" y="271535"/>
                  <a:pt x="4954660" y="285750"/>
                  <a:pt x="4937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2222500"/>
            <a:ext cx="4897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Click the link and enter your details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" y="2508250"/>
            <a:ext cx="4968875" cy="285750"/>
          </a:xfrm>
          <a:custGeom>
            <a:avLst/>
            <a:gdLst/>
            <a:ahLst/>
            <a:cxnLst/>
            <a:rect l="l" t="t" r="r" b="b"/>
            <a:pathLst>
              <a:path w="4968875" h="285750">
                <a:moveTo>
                  <a:pt x="31750" y="0"/>
                </a:moveTo>
                <a:lnTo>
                  <a:pt x="4937125" y="0"/>
                </a:lnTo>
                <a:cubicBezTo>
                  <a:pt x="4954660" y="0"/>
                  <a:pt x="4968875" y="14215"/>
                  <a:pt x="4968875" y="31750"/>
                </a:cubicBezTo>
                <a:lnTo>
                  <a:pt x="4968875" y="254000"/>
                </a:lnTo>
                <a:cubicBezTo>
                  <a:pt x="4968875" y="271535"/>
                  <a:pt x="4954660" y="285750"/>
                  <a:pt x="4937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571750"/>
            <a:ext cx="4897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Ignore the email completely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2175" y="2860675"/>
            <a:ext cx="4959350" cy="292100"/>
          </a:xfrm>
          <a:custGeom>
            <a:avLst/>
            <a:gdLst/>
            <a:ahLst/>
            <a:cxnLst/>
            <a:rect l="l" t="t" r="r" b="b"/>
            <a:pathLst>
              <a:path w="4959350" h="292100">
                <a:moveTo>
                  <a:pt x="31751" y="0"/>
                </a:moveTo>
                <a:lnTo>
                  <a:pt x="4927599" y="0"/>
                </a:lnTo>
                <a:cubicBezTo>
                  <a:pt x="4945134" y="0"/>
                  <a:pt x="4959350" y="14216"/>
                  <a:pt x="4959350" y="31751"/>
                </a:cubicBezTo>
                <a:lnTo>
                  <a:pt x="4959350" y="260349"/>
                </a:lnTo>
                <a:cubicBezTo>
                  <a:pt x="4959350" y="277884"/>
                  <a:pt x="4945134" y="292100"/>
                  <a:pt x="4927599" y="292100"/>
                </a:cubicBezTo>
                <a:lnTo>
                  <a:pt x="31751" y="292100"/>
                </a:lnTo>
                <a:cubicBezTo>
                  <a:pt x="14216" y="292100"/>
                  <a:pt x="0" y="277884"/>
                  <a:pt x="0" y="2603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50" y="2927352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C. Call your bank using a known number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000" y="3219451"/>
            <a:ext cx="5016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click links in unsolicited emails. Contact organizations directly using verified contact information.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5375" y="1301750"/>
            <a:ext cx="5699125" cy="2301875"/>
          </a:xfrm>
          <a:custGeom>
            <a:avLst/>
            <a:gdLst/>
            <a:ahLst/>
            <a:cxnLst/>
            <a:rect l="l" t="t" r="r" b="b"/>
            <a:pathLst>
              <a:path w="5699125" h="2301875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2238366"/>
                </a:lnTo>
                <a:cubicBezTo>
                  <a:pt x="5699125" y="2273441"/>
                  <a:pt x="5670691" y="2301875"/>
                  <a:pt x="5635616" y="2301875"/>
                </a:cubicBezTo>
                <a:lnTo>
                  <a:pt x="63509" y="2301875"/>
                </a:lnTo>
                <a:cubicBezTo>
                  <a:pt x="28434" y="2301875"/>
                  <a:pt x="0" y="2273441"/>
                  <a:pt x="0" y="223836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4125" y="1460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12310" y="1524000"/>
            <a:ext cx="22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46875" y="1460500"/>
            <a:ext cx="5024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Colleague's Email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6875" y="1746250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email from a colleague contains a link, but the email address has a subtle typo. What should you do?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46875" y="2000250"/>
            <a:ext cx="4953000" cy="285750"/>
          </a:xfrm>
          <a:custGeom>
            <a:avLst/>
            <a:gdLst/>
            <a:ahLst/>
            <a:cxnLst/>
            <a:rect l="l" t="t" r="r" b="b"/>
            <a:pathLst>
              <a:path w="4953000" h="285750">
                <a:moveTo>
                  <a:pt x="31750" y="0"/>
                </a:moveTo>
                <a:lnTo>
                  <a:pt x="4921250" y="0"/>
                </a:lnTo>
                <a:cubicBezTo>
                  <a:pt x="4938785" y="0"/>
                  <a:pt x="4953000" y="14215"/>
                  <a:pt x="4953000" y="31750"/>
                </a:cubicBezTo>
                <a:lnTo>
                  <a:pt x="4953000" y="254000"/>
                </a:lnTo>
                <a:cubicBezTo>
                  <a:pt x="4953000" y="271535"/>
                  <a:pt x="4938785" y="285750"/>
                  <a:pt x="4921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3" name="Text 21"/>
          <p:cNvSpPr/>
          <p:nvPr/>
        </p:nvSpPr>
        <p:spPr>
          <a:xfrm>
            <a:off x="6810375" y="2063750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Open the document - it's from a colleague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50050" y="2352675"/>
            <a:ext cx="4951413" cy="292100"/>
          </a:xfrm>
          <a:custGeom>
            <a:avLst/>
            <a:gdLst/>
            <a:ahLst/>
            <a:cxnLst/>
            <a:rect l="l" t="t" r="r" b="b"/>
            <a:pathLst>
              <a:path w="4951413" h="292100">
                <a:moveTo>
                  <a:pt x="31751" y="0"/>
                </a:moveTo>
                <a:lnTo>
                  <a:pt x="4919661" y="0"/>
                </a:lnTo>
                <a:cubicBezTo>
                  <a:pt x="4937197" y="0"/>
                  <a:pt x="4951413" y="14216"/>
                  <a:pt x="4951413" y="31751"/>
                </a:cubicBezTo>
                <a:lnTo>
                  <a:pt x="4951413" y="260349"/>
                </a:lnTo>
                <a:cubicBezTo>
                  <a:pt x="4951413" y="277884"/>
                  <a:pt x="4937197" y="292100"/>
                  <a:pt x="4919661" y="292100"/>
                </a:cubicBezTo>
                <a:lnTo>
                  <a:pt x="31751" y="292100"/>
                </a:lnTo>
                <a:cubicBezTo>
                  <a:pt x="14216" y="292100"/>
                  <a:pt x="0" y="277884"/>
                  <a:pt x="0" y="2603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6725" y="2419352"/>
            <a:ext cx="487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B. Report the email to IT security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46875" y="2711451"/>
            <a:ext cx="4953000" cy="285750"/>
          </a:xfrm>
          <a:custGeom>
            <a:avLst/>
            <a:gdLst/>
            <a:ahLst/>
            <a:cxnLst/>
            <a:rect l="l" t="t" r="r" b="b"/>
            <a:pathLst>
              <a:path w="4953000" h="285750">
                <a:moveTo>
                  <a:pt x="31750" y="0"/>
                </a:moveTo>
                <a:lnTo>
                  <a:pt x="4921250" y="0"/>
                </a:lnTo>
                <a:cubicBezTo>
                  <a:pt x="4938785" y="0"/>
                  <a:pt x="4953000" y="14215"/>
                  <a:pt x="4953000" y="31750"/>
                </a:cubicBezTo>
                <a:lnTo>
                  <a:pt x="4953000" y="254000"/>
                </a:lnTo>
                <a:cubicBezTo>
                  <a:pt x="4953000" y="271535"/>
                  <a:pt x="4938785" y="285750"/>
                  <a:pt x="4921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7" name="Text 25"/>
          <p:cNvSpPr/>
          <p:nvPr/>
        </p:nvSpPr>
        <p:spPr>
          <a:xfrm>
            <a:off x="6810375" y="2774951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Forward to others to check if it's real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46875" y="3060701"/>
            <a:ext cx="5000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Typos in email addresses are a hallmark of phishing. Report suspicious emails immediately.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7500" y="3759100"/>
            <a:ext cx="5699125" cy="2143125"/>
          </a:xfrm>
          <a:custGeom>
            <a:avLst/>
            <a:gdLst/>
            <a:ahLst/>
            <a:cxnLst/>
            <a:rect l="l" t="t" r="r" b="b"/>
            <a:pathLst>
              <a:path w="5699125" h="2143125">
                <a:moveTo>
                  <a:pt x="63501" y="0"/>
                </a:moveTo>
                <a:lnTo>
                  <a:pt x="5635624" y="0"/>
                </a:lnTo>
                <a:cubicBezTo>
                  <a:pt x="5670695" y="0"/>
                  <a:pt x="5699125" y="28430"/>
                  <a:pt x="5699125" y="63501"/>
                </a:cubicBezTo>
                <a:lnTo>
                  <a:pt x="5699125" y="2079624"/>
                </a:lnTo>
                <a:cubicBezTo>
                  <a:pt x="5699125" y="2114695"/>
                  <a:pt x="5670695" y="2143125"/>
                  <a:pt x="5635624" y="2143125"/>
                </a:cubicBezTo>
                <a:lnTo>
                  <a:pt x="63501" y="2143125"/>
                </a:lnTo>
                <a:cubicBezTo>
                  <a:pt x="28430" y="2143125"/>
                  <a:pt x="0" y="2114695"/>
                  <a:pt x="0" y="2079624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250" y="39178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52748" y="3981350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" y="3917850"/>
            <a:ext cx="498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SMS Alert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9000" y="4203600"/>
            <a:ext cx="496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get a text message stating your account is locked and asking you to click a link. What is this called?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2175" y="4460775"/>
            <a:ext cx="4911725" cy="292100"/>
          </a:xfrm>
          <a:custGeom>
            <a:avLst/>
            <a:gdLst/>
            <a:ahLst/>
            <a:cxnLst/>
            <a:rect l="l" t="t" r="r" b="b"/>
            <a:pathLst>
              <a:path w="4911725" h="292100">
                <a:moveTo>
                  <a:pt x="31751" y="0"/>
                </a:moveTo>
                <a:lnTo>
                  <a:pt x="4879974" y="0"/>
                </a:lnTo>
                <a:cubicBezTo>
                  <a:pt x="4897509" y="0"/>
                  <a:pt x="4911725" y="14216"/>
                  <a:pt x="4911725" y="31751"/>
                </a:cubicBezTo>
                <a:lnTo>
                  <a:pt x="4911725" y="260349"/>
                </a:lnTo>
                <a:cubicBezTo>
                  <a:pt x="4911725" y="277884"/>
                  <a:pt x="4897509" y="292100"/>
                  <a:pt x="4879974" y="292100"/>
                </a:cubicBezTo>
                <a:lnTo>
                  <a:pt x="31751" y="292100"/>
                </a:lnTo>
                <a:cubicBezTo>
                  <a:pt x="14216" y="292100"/>
                  <a:pt x="0" y="277884"/>
                  <a:pt x="0" y="2603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850" y="4527452"/>
            <a:ext cx="483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A. Smishing (SMS phishing)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9000" y="4819551"/>
            <a:ext cx="4913313" cy="285750"/>
          </a:xfrm>
          <a:custGeom>
            <a:avLst/>
            <a:gdLst/>
            <a:ahLst/>
            <a:cxnLst/>
            <a:rect l="l" t="t" r="r" b="b"/>
            <a:pathLst>
              <a:path w="4913313" h="285750">
                <a:moveTo>
                  <a:pt x="31750" y="0"/>
                </a:moveTo>
                <a:lnTo>
                  <a:pt x="4881563" y="0"/>
                </a:lnTo>
                <a:cubicBezTo>
                  <a:pt x="4899098" y="0"/>
                  <a:pt x="4913313" y="14215"/>
                  <a:pt x="4913313" y="31750"/>
                </a:cubicBezTo>
                <a:lnTo>
                  <a:pt x="4913313" y="254000"/>
                </a:lnTo>
                <a:cubicBezTo>
                  <a:pt x="4913313" y="271535"/>
                  <a:pt x="4899098" y="285750"/>
                  <a:pt x="488156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4883051"/>
            <a:ext cx="484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Vishing (voice phishing)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89000" y="5168801"/>
            <a:ext cx="4913313" cy="285750"/>
          </a:xfrm>
          <a:custGeom>
            <a:avLst/>
            <a:gdLst/>
            <a:ahLst/>
            <a:cxnLst/>
            <a:rect l="l" t="t" r="r" b="b"/>
            <a:pathLst>
              <a:path w="4913313" h="285750">
                <a:moveTo>
                  <a:pt x="31750" y="0"/>
                </a:moveTo>
                <a:lnTo>
                  <a:pt x="4881563" y="0"/>
                </a:lnTo>
                <a:cubicBezTo>
                  <a:pt x="4899098" y="0"/>
                  <a:pt x="4913313" y="14215"/>
                  <a:pt x="4913313" y="31750"/>
                </a:cubicBezTo>
                <a:lnTo>
                  <a:pt x="4913313" y="254000"/>
                </a:lnTo>
                <a:cubicBezTo>
                  <a:pt x="4913313" y="271535"/>
                  <a:pt x="4899098" y="285750"/>
                  <a:pt x="488156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5232301"/>
            <a:ext cx="484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Spear phishing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9000" y="5518051"/>
            <a:ext cx="4960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Smishing uses text messages to deliver phishing attacks. Never click links in unexpected texts.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3759100"/>
            <a:ext cx="5699125" cy="2143125"/>
          </a:xfrm>
          <a:custGeom>
            <a:avLst/>
            <a:gdLst/>
            <a:ahLst/>
            <a:cxnLst/>
            <a:rect l="l" t="t" r="r" b="b"/>
            <a:pathLst>
              <a:path w="5699125" h="2143125">
                <a:moveTo>
                  <a:pt x="63501" y="0"/>
                </a:moveTo>
                <a:lnTo>
                  <a:pt x="5635624" y="0"/>
                </a:lnTo>
                <a:cubicBezTo>
                  <a:pt x="5670695" y="0"/>
                  <a:pt x="5699125" y="28430"/>
                  <a:pt x="5699125" y="63501"/>
                </a:cubicBezTo>
                <a:lnTo>
                  <a:pt x="5699125" y="2079624"/>
                </a:lnTo>
                <a:cubicBezTo>
                  <a:pt x="5699125" y="2114695"/>
                  <a:pt x="5670695" y="2143125"/>
                  <a:pt x="5635624" y="2143125"/>
                </a:cubicBezTo>
                <a:lnTo>
                  <a:pt x="63501" y="2143125"/>
                </a:lnTo>
                <a:cubicBezTo>
                  <a:pt x="28430" y="2143125"/>
                  <a:pt x="0" y="2114695"/>
                  <a:pt x="0" y="2079624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2" name="Shape 40"/>
          <p:cNvSpPr/>
          <p:nvPr/>
        </p:nvSpPr>
        <p:spPr>
          <a:xfrm>
            <a:off x="6334125" y="39178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12408" y="3981350"/>
            <a:ext cx="22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46875" y="3917850"/>
            <a:ext cx="481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Free Prize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46875" y="4203600"/>
            <a:ext cx="479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website claims you've won a free prize and asks for credit card information. What red flags exist?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46875" y="4457600"/>
            <a:ext cx="4738688" cy="285750"/>
          </a:xfrm>
          <a:custGeom>
            <a:avLst/>
            <a:gdLst/>
            <a:ahLst/>
            <a:cxnLst/>
            <a:rect l="l" t="t" r="r" b="b"/>
            <a:pathLst>
              <a:path w="4738688" h="285750">
                <a:moveTo>
                  <a:pt x="31750" y="0"/>
                </a:moveTo>
                <a:lnTo>
                  <a:pt x="4706938" y="0"/>
                </a:lnTo>
                <a:cubicBezTo>
                  <a:pt x="4724473" y="0"/>
                  <a:pt x="4738688" y="14215"/>
                  <a:pt x="4738688" y="31750"/>
                </a:cubicBezTo>
                <a:lnTo>
                  <a:pt x="4738688" y="254000"/>
                </a:lnTo>
                <a:cubicBezTo>
                  <a:pt x="4738688" y="271535"/>
                  <a:pt x="4724473" y="285750"/>
                  <a:pt x="470693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7" name="Text 45"/>
          <p:cNvSpPr/>
          <p:nvPr/>
        </p:nvSpPr>
        <p:spPr>
          <a:xfrm>
            <a:off x="6810375" y="4521100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Unsolicited reward only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46875" y="4806850"/>
            <a:ext cx="4738688" cy="285750"/>
          </a:xfrm>
          <a:custGeom>
            <a:avLst/>
            <a:gdLst/>
            <a:ahLst/>
            <a:cxnLst/>
            <a:rect l="l" t="t" r="r" b="b"/>
            <a:pathLst>
              <a:path w="4738688" h="285750">
                <a:moveTo>
                  <a:pt x="31750" y="0"/>
                </a:moveTo>
                <a:lnTo>
                  <a:pt x="4706938" y="0"/>
                </a:lnTo>
                <a:cubicBezTo>
                  <a:pt x="4724473" y="0"/>
                  <a:pt x="4738688" y="14215"/>
                  <a:pt x="4738688" y="31750"/>
                </a:cubicBezTo>
                <a:lnTo>
                  <a:pt x="4738688" y="254000"/>
                </a:lnTo>
                <a:cubicBezTo>
                  <a:pt x="4738688" y="271535"/>
                  <a:pt x="4724473" y="285750"/>
                  <a:pt x="470693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9" name="Text 47"/>
          <p:cNvSpPr/>
          <p:nvPr/>
        </p:nvSpPr>
        <p:spPr>
          <a:xfrm>
            <a:off x="6810375" y="4870350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Request for sensitive information only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50050" y="5159275"/>
            <a:ext cx="4737100" cy="292100"/>
          </a:xfrm>
          <a:custGeom>
            <a:avLst/>
            <a:gdLst/>
            <a:ahLst/>
            <a:cxnLst/>
            <a:rect l="l" t="t" r="r" b="b"/>
            <a:pathLst>
              <a:path w="4737100" h="292100">
                <a:moveTo>
                  <a:pt x="31751" y="0"/>
                </a:moveTo>
                <a:lnTo>
                  <a:pt x="4705349" y="0"/>
                </a:lnTo>
                <a:cubicBezTo>
                  <a:pt x="4722884" y="0"/>
                  <a:pt x="4737100" y="14216"/>
                  <a:pt x="4737100" y="31751"/>
                </a:cubicBezTo>
                <a:lnTo>
                  <a:pt x="4737100" y="260349"/>
                </a:lnTo>
                <a:cubicBezTo>
                  <a:pt x="4737100" y="277884"/>
                  <a:pt x="4722884" y="292100"/>
                  <a:pt x="4705349" y="292100"/>
                </a:cubicBezTo>
                <a:lnTo>
                  <a:pt x="31751" y="292100"/>
                </a:lnTo>
                <a:cubicBezTo>
                  <a:pt x="14216" y="292100"/>
                  <a:pt x="0" y="277884"/>
                  <a:pt x="0" y="2603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6725" y="5225952"/>
            <a:ext cx="465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C. Both A and 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46875" y="5518051"/>
            <a:ext cx="478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exploits curiosity and greed. Any request for sensitive info from unknown sources is suspicious.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675" y="6029125"/>
            <a:ext cx="11547475" cy="641350"/>
          </a:xfrm>
          <a:custGeom>
            <a:avLst/>
            <a:gdLst/>
            <a:ahLst/>
            <a:cxnLst/>
            <a:rect l="l" t="t" r="r" b="b"/>
            <a:pathLst>
              <a:path w="11547475" h="64135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577850"/>
                </a:lnTo>
                <a:cubicBezTo>
                  <a:pt x="11547475" y="612920"/>
                  <a:pt x="11519045" y="641350"/>
                  <a:pt x="11483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0537" y="615930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5" name="Text 53"/>
          <p:cNvSpPr/>
          <p:nvPr/>
        </p:nvSpPr>
        <p:spPr>
          <a:xfrm>
            <a:off x="744538" y="6159306"/>
            <a:ext cx="920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the Golden Rule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4538" y="6381556"/>
            <a:ext cx="919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verify through a separate, trusted channel. Your vigilance is your organization's first line of defense. Report all suspicious communications to your IT security team immediately.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To Do If You Suspect Phishing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these steps immediately to minimize damage and protect your organization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308100"/>
            <a:ext cx="5672137" cy="1885950"/>
          </a:xfrm>
          <a:custGeom>
            <a:avLst/>
            <a:gdLst/>
            <a:ahLst/>
            <a:cxnLst/>
            <a:rect l="l" t="t" r="r" b="b"/>
            <a:pathLst>
              <a:path w="5672137" h="1885950">
                <a:moveTo>
                  <a:pt x="63500" y="0"/>
                </a:moveTo>
                <a:lnTo>
                  <a:pt x="5608638" y="0"/>
                </a:lnTo>
                <a:cubicBezTo>
                  <a:pt x="5643708" y="0"/>
                  <a:pt x="5672137" y="28430"/>
                  <a:pt x="5672137" y="63500"/>
                </a:cubicBezTo>
                <a:lnTo>
                  <a:pt x="5672137" y="1822450"/>
                </a:lnTo>
                <a:cubicBezTo>
                  <a:pt x="5672138" y="1857520"/>
                  <a:pt x="5643708" y="1885950"/>
                  <a:pt x="5608638" y="1885950"/>
                </a:cubicBezTo>
                <a:lnTo>
                  <a:pt x="63500" y="1885950"/>
                </a:lnTo>
                <a:cubicBezTo>
                  <a:pt x="28430" y="1885950"/>
                  <a:pt x="0" y="1857520"/>
                  <a:pt x="0" y="18224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20320">
            <a:solidFill>
              <a:srgbClr val="FF7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950" y="147320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7" name="Text 5"/>
          <p:cNvSpPr/>
          <p:nvPr/>
        </p:nvSpPr>
        <p:spPr>
          <a:xfrm>
            <a:off x="680938" y="1568455"/>
            <a:ext cx="15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700" y="1568455"/>
            <a:ext cx="579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8950" y="2012955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not take any further action with the suspicious communication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8950" y="2298705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NOT click any links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8950" y="2489205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NOT download attachments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950" y="2679705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NOT reply to the message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950" y="2870205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NOT enter any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3327402"/>
            <a:ext cx="5667375" cy="1936750"/>
          </a:xfrm>
          <a:custGeom>
            <a:avLst/>
            <a:gdLst/>
            <a:ahLst/>
            <a:cxnLst/>
            <a:rect l="l" t="t" r="r" b="b"/>
            <a:pathLst>
              <a:path w="5667375" h="1936750">
                <a:moveTo>
                  <a:pt x="31750" y="0"/>
                </a:moveTo>
                <a:lnTo>
                  <a:pt x="5603869" y="0"/>
                </a:lnTo>
                <a:cubicBezTo>
                  <a:pt x="5638942" y="0"/>
                  <a:pt x="5667375" y="28433"/>
                  <a:pt x="5667375" y="63506"/>
                </a:cubicBezTo>
                <a:lnTo>
                  <a:pt x="5667375" y="1873244"/>
                </a:lnTo>
                <a:cubicBezTo>
                  <a:pt x="5667375" y="1908317"/>
                  <a:pt x="5638942" y="1936750"/>
                  <a:pt x="5603869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375" y="3327402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000" y="34861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8019" y="3565527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250" y="3565527"/>
            <a:ext cx="67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" y="3962402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Immediately notify your IT security team through proper channels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4248152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825497"/>
                </a:lnTo>
                <a:cubicBezTo>
                  <a:pt x="5334000" y="843034"/>
                  <a:pt x="5319784" y="857250"/>
                  <a:pt x="5302247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250" y="434340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REPORT: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" y="453390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the "Report Phishing" button in your email client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469265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Forward to security@yourcompany.com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" y="485140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Call the IT security hotline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5391152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603883" y="0"/>
                </a:lnTo>
                <a:cubicBezTo>
                  <a:pt x="5638948" y="0"/>
                  <a:pt x="5667375" y="28427"/>
                  <a:pt x="5667375" y="63492"/>
                </a:cubicBezTo>
                <a:lnTo>
                  <a:pt x="5667375" y="1714508"/>
                </a:lnTo>
                <a:cubicBezTo>
                  <a:pt x="5667375" y="1749573"/>
                  <a:pt x="5638948" y="1778000"/>
                  <a:pt x="5603883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375" y="5391152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Shape 25"/>
          <p:cNvSpPr/>
          <p:nvPr/>
        </p:nvSpPr>
        <p:spPr>
          <a:xfrm>
            <a:off x="508000" y="55499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6034" y="5629277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4250" y="5629277"/>
            <a:ext cx="603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8000" y="6026152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the sender through known channels to confirm legitimacy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000" y="6311902"/>
            <a:ext cx="5334000" cy="698500"/>
          </a:xfrm>
          <a:custGeom>
            <a:avLst/>
            <a:gdLst/>
            <a:ahLst/>
            <a:cxnLst/>
            <a:rect l="l" t="t" r="r" b="b"/>
            <a:pathLst>
              <a:path w="5334000" h="698500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666753"/>
                </a:lnTo>
                <a:cubicBezTo>
                  <a:pt x="5334000" y="684286"/>
                  <a:pt x="5319786" y="698500"/>
                  <a:pt x="530225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2" name="Text 30"/>
          <p:cNvSpPr/>
          <p:nvPr/>
        </p:nvSpPr>
        <p:spPr>
          <a:xfrm>
            <a:off x="603250" y="640715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METHODS: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3250" y="659765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Call using a known phone number (not from the email)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" y="6756402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official websites accessed independently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7125" y="1301750"/>
            <a:ext cx="5667375" cy="1936750"/>
          </a:xfrm>
          <a:custGeom>
            <a:avLst/>
            <a:gdLst/>
            <a:ahLst/>
            <a:cxnLst/>
            <a:rect l="l" t="t" r="r" b="b"/>
            <a:pathLst>
              <a:path w="5667375" h="1936750">
                <a:moveTo>
                  <a:pt x="31750" y="0"/>
                </a:moveTo>
                <a:lnTo>
                  <a:pt x="5603869" y="0"/>
                </a:lnTo>
                <a:cubicBezTo>
                  <a:pt x="5638942" y="0"/>
                  <a:pt x="5667375" y="28433"/>
                  <a:pt x="5667375" y="63506"/>
                </a:cubicBezTo>
                <a:lnTo>
                  <a:pt x="5667375" y="1873244"/>
                </a:lnTo>
                <a:cubicBezTo>
                  <a:pt x="5667375" y="1908317"/>
                  <a:pt x="5638942" y="1936750"/>
                  <a:pt x="5603869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36" name="Shape 34"/>
          <p:cNvSpPr/>
          <p:nvPr/>
        </p:nvSpPr>
        <p:spPr>
          <a:xfrm>
            <a:off x="6207125" y="1301750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1750" y="146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31868" y="153987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0" y="1539875"/>
            <a:ext cx="173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PASSWORDS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1936750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may have entered credentials, change passwords immediately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2222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825497"/>
                </a:lnTo>
                <a:cubicBezTo>
                  <a:pt x="5334000" y="843034"/>
                  <a:pt x="5319784" y="857250"/>
                  <a:pt x="5302247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2" name="Text 40"/>
          <p:cNvSpPr/>
          <p:nvPr/>
        </p:nvSpPr>
        <p:spPr>
          <a:xfrm>
            <a:off x="6477000" y="2317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ACCOUNTS: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7000" y="2508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Email account (highest priority)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7000" y="2667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Banking and financial accounts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2825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Work-related accounts and systems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7125" y="3365500"/>
            <a:ext cx="5667375" cy="1936750"/>
          </a:xfrm>
          <a:custGeom>
            <a:avLst/>
            <a:gdLst/>
            <a:ahLst/>
            <a:cxnLst/>
            <a:rect l="l" t="t" r="r" b="b"/>
            <a:pathLst>
              <a:path w="5667375" h="1936750">
                <a:moveTo>
                  <a:pt x="31750" y="0"/>
                </a:moveTo>
                <a:lnTo>
                  <a:pt x="5603869" y="0"/>
                </a:lnTo>
                <a:cubicBezTo>
                  <a:pt x="5638942" y="0"/>
                  <a:pt x="5667375" y="28433"/>
                  <a:pt x="5667375" y="63506"/>
                </a:cubicBezTo>
                <a:lnTo>
                  <a:pt x="5667375" y="1873244"/>
                </a:lnTo>
                <a:cubicBezTo>
                  <a:pt x="5667375" y="1908317"/>
                  <a:pt x="5638942" y="1936750"/>
                  <a:pt x="5603869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47" name="Shape 45"/>
          <p:cNvSpPr/>
          <p:nvPr/>
        </p:nvSpPr>
        <p:spPr>
          <a:xfrm>
            <a:off x="6207125" y="3365500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8" name="Shape 46"/>
          <p:cNvSpPr/>
          <p:nvPr/>
        </p:nvSpPr>
        <p:spPr>
          <a:xfrm>
            <a:off x="6381750" y="352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29487" y="360362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3603625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750" y="4000500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antivirus and malware scans on affected devices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1750" y="4286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825497"/>
                </a:lnTo>
                <a:cubicBezTo>
                  <a:pt x="5334000" y="843034"/>
                  <a:pt x="5319784" y="857250"/>
                  <a:pt x="5302247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3" name="Text 51"/>
          <p:cNvSpPr/>
          <p:nvPr/>
        </p:nvSpPr>
        <p:spPr>
          <a:xfrm>
            <a:off x="6477000" y="4381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0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77000" y="4572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Full system antivirus scan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77000" y="4730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Malware detection scan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77000" y="4889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browser extensions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07125" y="5429250"/>
            <a:ext cx="5667375" cy="984250"/>
          </a:xfrm>
          <a:custGeom>
            <a:avLst/>
            <a:gdLst/>
            <a:ahLst/>
            <a:cxnLst/>
            <a:rect l="l" t="t" r="r" b="b"/>
            <a:pathLst>
              <a:path w="5667375" h="984250">
                <a:moveTo>
                  <a:pt x="31750" y="0"/>
                </a:moveTo>
                <a:lnTo>
                  <a:pt x="5603871" y="0"/>
                </a:lnTo>
                <a:cubicBezTo>
                  <a:pt x="5638943" y="0"/>
                  <a:pt x="5667375" y="28432"/>
                  <a:pt x="5667375" y="63504"/>
                </a:cubicBezTo>
                <a:lnTo>
                  <a:pt x="5667375" y="920746"/>
                </a:lnTo>
                <a:cubicBezTo>
                  <a:pt x="5667375" y="955818"/>
                  <a:pt x="5638943" y="984250"/>
                  <a:pt x="5603871" y="984250"/>
                </a:cubicBezTo>
                <a:lnTo>
                  <a:pt x="31750" y="984250"/>
                </a:lnTo>
                <a:cubicBezTo>
                  <a:pt x="14215" y="984250"/>
                  <a:pt x="0" y="970035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58" name="Shape 56"/>
          <p:cNvSpPr/>
          <p:nvPr/>
        </p:nvSpPr>
        <p:spPr>
          <a:xfrm>
            <a:off x="6207125" y="5429250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31750" y="0"/>
                </a:moveTo>
                <a:lnTo>
                  <a:pt x="31750" y="0"/>
                </a:lnTo>
                <a:lnTo>
                  <a:pt x="31750" y="984250"/>
                </a:lnTo>
                <a:lnTo>
                  <a:pt x="31750" y="984250"/>
                </a:lnTo>
                <a:cubicBezTo>
                  <a:pt x="14227" y="984250"/>
                  <a:pt x="0" y="970023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Shape 57"/>
          <p:cNvSpPr/>
          <p:nvPr/>
        </p:nvSpPr>
        <p:spPr>
          <a:xfrm>
            <a:off x="6381750" y="558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528494" y="56673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58000" y="5667375"/>
            <a:ext cx="9763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81750" y="6064250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records of the incident for investigation purposes, including screenshots and timestamps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0209761b1123644fe783f8a8caddb673ea3896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219" b="3421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850" y="294326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50800">
            <a:solidFill>
              <a:srgbClr val="4DB6A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400" y="5038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2295525" y="1418276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CEFF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Stay Vigilant, Stay Secure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142176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verify.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vigilance is your organization's first line of defense against phishing attacks.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2610" y="3565211"/>
            <a:ext cx="2636520" cy="1664970"/>
          </a:xfrm>
          <a:custGeom>
            <a:avLst/>
            <a:gdLst/>
            <a:ahLst/>
            <a:cxnLst/>
            <a:rect l="l" t="t" r="r" b="b"/>
            <a:pathLst>
              <a:path w="2636520" h="1664970">
                <a:moveTo>
                  <a:pt x="76206" y="0"/>
                </a:moveTo>
                <a:lnTo>
                  <a:pt x="2560314" y="0"/>
                </a:lnTo>
                <a:cubicBezTo>
                  <a:pt x="2602402" y="0"/>
                  <a:pt x="2636520" y="34118"/>
                  <a:pt x="2636520" y="76206"/>
                </a:cubicBezTo>
                <a:lnTo>
                  <a:pt x="2636520" y="1588764"/>
                </a:lnTo>
                <a:cubicBezTo>
                  <a:pt x="2636520" y="1630852"/>
                  <a:pt x="2602402" y="1664970"/>
                  <a:pt x="2560314" y="1664970"/>
                </a:cubicBezTo>
                <a:lnTo>
                  <a:pt x="76206" y="1664970"/>
                </a:lnTo>
                <a:cubicBezTo>
                  <a:pt x="34118" y="1664970"/>
                  <a:pt x="0" y="1630852"/>
                  <a:pt x="0" y="158876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63238">
              <a:alpha val="8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91207" y="379761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7"/>
          <p:cNvSpPr/>
          <p:nvPr/>
        </p:nvSpPr>
        <p:spPr>
          <a:xfrm>
            <a:off x="2017395" y="4197669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Alert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26920" y="4540569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be suspicious of unexpected communications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78931" y="3565211"/>
            <a:ext cx="2636520" cy="1664970"/>
          </a:xfrm>
          <a:custGeom>
            <a:avLst/>
            <a:gdLst/>
            <a:ahLst/>
            <a:cxnLst/>
            <a:rect l="l" t="t" r="r" b="b"/>
            <a:pathLst>
              <a:path w="2636520" h="1664970">
                <a:moveTo>
                  <a:pt x="76206" y="0"/>
                </a:moveTo>
                <a:lnTo>
                  <a:pt x="2560314" y="0"/>
                </a:lnTo>
                <a:cubicBezTo>
                  <a:pt x="2602402" y="0"/>
                  <a:pt x="2636520" y="34118"/>
                  <a:pt x="2636520" y="76206"/>
                </a:cubicBezTo>
                <a:lnTo>
                  <a:pt x="2636520" y="1588764"/>
                </a:lnTo>
                <a:cubicBezTo>
                  <a:pt x="2636520" y="1630852"/>
                  <a:pt x="2602402" y="1664970"/>
                  <a:pt x="2560314" y="1664970"/>
                </a:cubicBezTo>
                <a:lnTo>
                  <a:pt x="76206" y="1664970"/>
                </a:lnTo>
                <a:cubicBezTo>
                  <a:pt x="34118" y="1664970"/>
                  <a:pt x="0" y="1630852"/>
                  <a:pt x="0" y="158876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63238">
              <a:alpha val="8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55387" y="37976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1"/>
          <p:cNvSpPr/>
          <p:nvPr/>
        </p:nvSpPr>
        <p:spPr>
          <a:xfrm>
            <a:off x="4963716" y="4197669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First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73241" y="4540569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trusted channels to confirm legitimacy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5371" y="3565211"/>
            <a:ext cx="2636520" cy="1664970"/>
          </a:xfrm>
          <a:custGeom>
            <a:avLst/>
            <a:gdLst/>
            <a:ahLst/>
            <a:cxnLst/>
            <a:rect l="l" t="t" r="r" b="b"/>
            <a:pathLst>
              <a:path w="2636520" h="1664970">
                <a:moveTo>
                  <a:pt x="76206" y="0"/>
                </a:moveTo>
                <a:lnTo>
                  <a:pt x="2560314" y="0"/>
                </a:lnTo>
                <a:cubicBezTo>
                  <a:pt x="2602402" y="0"/>
                  <a:pt x="2636520" y="34118"/>
                  <a:pt x="2636520" y="76206"/>
                </a:cubicBezTo>
                <a:lnTo>
                  <a:pt x="2636520" y="1588764"/>
                </a:lnTo>
                <a:cubicBezTo>
                  <a:pt x="2636520" y="1630852"/>
                  <a:pt x="2602402" y="1664970"/>
                  <a:pt x="2560314" y="1664970"/>
                </a:cubicBezTo>
                <a:lnTo>
                  <a:pt x="76206" y="1664970"/>
                </a:lnTo>
                <a:cubicBezTo>
                  <a:pt x="34118" y="1664970"/>
                  <a:pt x="0" y="1630852"/>
                  <a:pt x="0" y="158876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63238">
              <a:alpha val="8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19686" y="379761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35719" y="7981"/>
                  <a:pt x="27738" y="0"/>
                  <a:pt x="17859" y="0"/>
                </a:cubicBezTo>
                <a:cubicBezTo>
                  <a:pt x="7981" y="0"/>
                  <a:pt x="0" y="7981"/>
                  <a:pt x="0" y="17859"/>
                </a:cubicBez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200025"/>
                </a:lnTo>
                <a:lnTo>
                  <a:pt x="70712" y="189533"/>
                </a:lnTo>
                <a:cubicBezTo>
                  <a:pt x="94097" y="182500"/>
                  <a:pt x="119323" y="184677"/>
                  <a:pt x="141145" y="195616"/>
                </a:cubicBezTo>
                <a:cubicBezTo>
                  <a:pt x="164976" y="207559"/>
                  <a:pt x="192770" y="209010"/>
                  <a:pt x="217717" y="199634"/>
                </a:cubicBezTo>
                <a:lnTo>
                  <a:pt x="238423" y="191877"/>
                </a:lnTo>
                <a:cubicBezTo>
                  <a:pt x="245399" y="189254"/>
                  <a:pt x="250031" y="182612"/>
                  <a:pt x="250031" y="175133"/>
                </a:cubicBezTo>
                <a:lnTo>
                  <a:pt x="250031" y="36891"/>
                </a:lnTo>
                <a:cubicBezTo>
                  <a:pt x="250031" y="24054"/>
                  <a:pt x="236525" y="15683"/>
                  <a:pt x="225028" y="21431"/>
                </a:cubicBezTo>
                <a:lnTo>
                  <a:pt x="218442" y="24724"/>
                </a:lnTo>
                <a:cubicBezTo>
                  <a:pt x="193384" y="37281"/>
                  <a:pt x="163860" y="37281"/>
                  <a:pt x="138745" y="24724"/>
                </a:cubicBezTo>
                <a:cubicBezTo>
                  <a:pt x="118430" y="14567"/>
                  <a:pt x="95045" y="12557"/>
                  <a:pt x="73335" y="19087"/>
                </a:cubicBezTo>
                <a:lnTo>
                  <a:pt x="35719" y="30361"/>
                </a:lnTo>
                <a:lnTo>
                  <a:pt x="35719" y="1785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5"/>
          <p:cNvSpPr/>
          <p:nvPr/>
        </p:nvSpPr>
        <p:spPr>
          <a:xfrm>
            <a:off x="7910156" y="4197669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Quickly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19681" y="4540569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protect your entire organization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455664" y="5542597"/>
            <a:ext cx="7284720" cy="1036320"/>
          </a:xfrm>
          <a:custGeom>
            <a:avLst/>
            <a:gdLst/>
            <a:ahLst/>
            <a:cxnLst/>
            <a:rect l="l" t="t" r="r" b="b"/>
            <a:pathLst>
              <a:path w="7284720" h="1036320">
                <a:moveTo>
                  <a:pt x="76201" y="0"/>
                </a:moveTo>
                <a:lnTo>
                  <a:pt x="7208519" y="0"/>
                </a:lnTo>
                <a:cubicBezTo>
                  <a:pt x="7250604" y="0"/>
                  <a:pt x="7284720" y="34116"/>
                  <a:pt x="7284720" y="76201"/>
                </a:cubicBezTo>
                <a:lnTo>
                  <a:pt x="7284720" y="960119"/>
                </a:lnTo>
                <a:cubicBezTo>
                  <a:pt x="7284720" y="1002204"/>
                  <a:pt x="7250604" y="1036320"/>
                  <a:pt x="720851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45212" y="5775006"/>
            <a:ext cx="690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Suspicious Activity Immediately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649974" y="6117906"/>
            <a:ext cx="689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Together, we can build a security-conscious culture that keeps our organization safe from cyber threats.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Phishing Awareness Training</dc:subject>
  <dc:creator>Kimi</dc:creator>
  <cp:lastModifiedBy>Kimi</cp:lastModifiedBy>
  <cp:revision>1</cp:revision>
  <dcterms:created xsi:type="dcterms:W3CDTF">2026-02-07T06:14:46Z</dcterms:created>
  <dcterms:modified xsi:type="dcterms:W3CDTF">2026-02-07T06:14:46Z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{"Label":"Phishing Awareness Training","ContentProducer":"001191110108MACG2KBH8F10000","ProduceID":"19c36b84-3542-8b7a-8000-00001cd4d462","ReservedCode1":"","ContentPropagator":"001191110108MACG2KBH8F20000","PropagateID":"19c36b84-3542-8b7a-8000-00001cd4d462","ReservedCode2":""}</vt:lpwstr>
  </property>
</Properties>
</file>